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Montserrat Semi-Bold" charset="1" panose="00000700000000000000"/>
      <p:regular r:id="rId35"/>
    </p:embeddedFont>
    <p:embeddedFont>
      <p:font typeface="Montserrat Ultra-Bold" charset="1" panose="00000900000000000000"/>
      <p:regular r:id="rId36"/>
    </p:embeddedFont>
    <p:embeddedFont>
      <p:font typeface="Poppins Semi-Bold" charset="1" panose="00000700000000000000"/>
      <p:regular r:id="rId37"/>
    </p:embeddedFont>
    <p:embeddedFont>
      <p:font typeface="Montserrat Medium" charset="1" panose="00000600000000000000"/>
      <p:regular r:id="rId38"/>
    </p:embeddedFont>
    <p:embeddedFont>
      <p:font typeface="Montserrat Bold" charset="1" panose="00000800000000000000"/>
      <p:regular r:id="rId39"/>
    </p:embeddedFont>
    <p:embeddedFont>
      <p:font typeface="Poppins Medium" charset="1" panose="00000600000000000000"/>
      <p:regular r:id="rId40"/>
    </p:embeddedFont>
    <p:embeddedFont>
      <p:font typeface="Arimo Bold" charset="1" panose="020B0704020202020204"/>
      <p:regular r:id="rId41"/>
    </p:embeddedFont>
    <p:embeddedFont>
      <p:font typeface="Montserrat" charset="1" panose="000005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https://en.m.wikipedia.org/wiki/Raphael_Finkel" TargetMode="External" Type="http://schemas.openxmlformats.org/officeDocument/2006/relationships/hyperlink"/><Relationship Id="rId5" Target="https://en.m.wikipedia.org/wiki/J.L._Bentley"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jpeg" Type="http://schemas.openxmlformats.org/officeDocument/2006/relationships/image"/><Relationship Id="rId4" Target="../media/VAGjASR9WOY.mp4" Type="http://schemas.openxmlformats.org/officeDocument/2006/relationships/video"/><Relationship Id="rId5" Target="../media/VAGjASR9WOY.mp4" Type="http://schemas.microsoft.com/office/2007/relationships/media"/><Relationship Id="rId6" Target="https://opendsa-server.cs.vt.edu/ODSA/Books/Everything/html/PRquadtree.html"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8.png" Type="http://schemas.openxmlformats.org/officeDocument/2006/relationships/image"/><Relationship Id="rId5" Target="https://medium.com/@waleoyediran/spatial-indexing-with-quadtrees-b998ae49336"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https://people.scs.carleton.ca/~maheshwa/courses/5703COMP/16Fall/quadtrees-paper.pdf"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https://developers.google.com/maps/documentation/ios-sdk/utility/quadtree?hl=en" TargetMode="External" Type="http://schemas.openxmlformats.org/officeDocument/2006/relationships/hyperlink"/><Relationship Id="rId8" Target="https://developers.google.com/maps/documentation/ios-sdk/utility/quadtree?hl=en"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https://en.wikipedia.org/wiki/Quadtree"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8.png" Type="http://schemas.openxmlformats.org/officeDocument/2006/relationships/image"/><Relationship Id="rId5" Target="https://leetcode.com/problems/construct-quad-tree/"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https://dmoj.ca/problem/cco96p3" TargetMode="External" Type="http://schemas.openxmlformats.org/officeDocument/2006/relationships/hyperlink"/><Relationship Id="rId11" Target="https://dmoj.ca/problem/cco96p3" TargetMode="External" Type="http://schemas.openxmlformats.org/officeDocument/2006/relationships/hyperlink"/><Relationship Id="rId12" Target="https://dmoj.ca/problem/cco96p3" TargetMode="External" Type="http://schemas.openxmlformats.org/officeDocument/2006/relationships/hyperlink"/><Relationship Id="rId13" Target="https://dmoj.ca/problem/cco96p3" TargetMode="External" Type="http://schemas.openxmlformats.org/officeDocument/2006/relationships/hyperlink"/><Relationship Id="rId14" Target="https://dmoj.ca/problem/cco96p3" TargetMode="External" Type="http://schemas.openxmlformats.org/officeDocument/2006/relationships/hyperlink"/><Relationship Id="rId15" Target="https://dmoj.ca/problem/cco96p3" TargetMode="External" Type="http://schemas.openxmlformats.org/officeDocument/2006/relationships/hyperlink"/><Relationship Id="rId16" Target="https://dmoj.ca/problem/cco96p3" TargetMode="External" Type="http://schemas.openxmlformats.org/officeDocument/2006/relationships/hyperlink"/><Relationship Id="rId2" Target="../media/image1.jpeg" Type="http://schemas.openxmlformats.org/officeDocument/2006/relationships/image"/><Relationship Id="rId3" Target="../media/image2.png" Type="http://schemas.openxmlformats.org/officeDocument/2006/relationships/image"/><Relationship Id="rId4" Target="../media/image43.png" Type="http://schemas.openxmlformats.org/officeDocument/2006/relationships/image"/><Relationship Id="rId5" Target="https://dmoj.ca/problem/cco96p3" TargetMode="External" Type="http://schemas.openxmlformats.org/officeDocument/2006/relationships/hyperlink"/><Relationship Id="rId6" Target="https://dmoj.ca/problem/cco96p3" TargetMode="External" Type="http://schemas.openxmlformats.org/officeDocument/2006/relationships/hyperlink"/><Relationship Id="rId7" Target="https://dmoj.ca/problem/cco96p3" TargetMode="External" Type="http://schemas.openxmlformats.org/officeDocument/2006/relationships/hyperlink"/><Relationship Id="rId8" Target="https://dmoj.ca/problem/cco96p3" TargetMode="External" Type="http://schemas.openxmlformats.org/officeDocument/2006/relationships/hyperlink"/><Relationship Id="rId9" Target="https://dmoj.ca/problem/cco96p3"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true" rot="0">
            <a:off x="12907507" y="6080295"/>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grpSp>
        <p:nvGrpSpPr>
          <p:cNvPr name="Group 4" id="4"/>
          <p:cNvGrpSpPr/>
          <p:nvPr/>
        </p:nvGrpSpPr>
        <p:grpSpPr>
          <a:xfrm rot="0">
            <a:off x="421348" y="1730532"/>
            <a:ext cx="4785953" cy="478595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7" id="7"/>
          <p:cNvGrpSpPr/>
          <p:nvPr/>
        </p:nvGrpSpPr>
        <p:grpSpPr>
          <a:xfrm rot="10310479">
            <a:off x="14991300" y="3224070"/>
            <a:ext cx="2229637" cy="222963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0" id="10"/>
          <p:cNvGrpSpPr/>
          <p:nvPr/>
        </p:nvGrpSpPr>
        <p:grpSpPr>
          <a:xfrm rot="0">
            <a:off x="17367864" y="1100865"/>
            <a:ext cx="399158" cy="63290"/>
            <a:chOff x="0" y="0"/>
            <a:chExt cx="105128" cy="16669"/>
          </a:xfrm>
        </p:grpSpPr>
        <p:sp>
          <p:nvSpPr>
            <p:cNvPr name="Freeform 11" id="11"/>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12" id="12"/>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13" id="13"/>
          <p:cNvGrpSpPr/>
          <p:nvPr/>
        </p:nvGrpSpPr>
        <p:grpSpPr>
          <a:xfrm rot="0">
            <a:off x="17367864" y="1243254"/>
            <a:ext cx="399158" cy="63290"/>
            <a:chOff x="0" y="0"/>
            <a:chExt cx="105128" cy="16669"/>
          </a:xfrm>
        </p:grpSpPr>
        <p:sp>
          <p:nvSpPr>
            <p:cNvPr name="Freeform 14" id="1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16" id="16"/>
          <p:cNvSpPr/>
          <p:nvPr/>
        </p:nvSpPr>
        <p:spPr>
          <a:xfrm>
            <a:off x="-190491" y="140179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Freeform 17" id="17"/>
          <p:cNvSpPr/>
          <p:nvPr/>
        </p:nvSpPr>
        <p:spPr>
          <a:xfrm flipH="false" flipV="false" rot="0">
            <a:off x="1539697" y="2575898"/>
            <a:ext cx="7992537" cy="5135205"/>
          </a:xfrm>
          <a:custGeom>
            <a:avLst/>
            <a:gdLst/>
            <a:ahLst/>
            <a:cxnLst/>
            <a:rect r="r" b="b" t="t" l="l"/>
            <a:pathLst>
              <a:path h="5135205" w="7992537">
                <a:moveTo>
                  <a:pt x="0" y="0"/>
                </a:moveTo>
                <a:lnTo>
                  <a:pt x="7992537" y="0"/>
                </a:lnTo>
                <a:lnTo>
                  <a:pt x="7992537" y="5135204"/>
                </a:lnTo>
                <a:lnTo>
                  <a:pt x="0" y="5135204"/>
                </a:lnTo>
                <a:lnTo>
                  <a:pt x="0" y="0"/>
                </a:lnTo>
                <a:close/>
              </a:path>
            </a:pathLst>
          </a:custGeom>
          <a:blipFill>
            <a:blip r:embed="rId4"/>
            <a:stretch>
              <a:fillRect l="0" t="0" r="0" b="0"/>
            </a:stretch>
          </a:blipFill>
          <a:ln w="38100" cap="rnd">
            <a:gradFill>
              <a:gsLst>
                <a:gs pos="0">
                  <a:srgbClr val="006CCD">
                    <a:alpha val="0"/>
                  </a:srgbClr>
                </a:gs>
                <a:gs pos="50000">
                  <a:srgbClr val="3E67C8">
                    <a:alpha val="100000"/>
                  </a:srgbClr>
                </a:gs>
                <a:gs pos="100000">
                  <a:srgbClr val="F5AEFF">
                    <a:alpha val="0"/>
                  </a:srgbClr>
                </a:gs>
              </a:gsLst>
              <a:lin ang="0"/>
            </a:gradFill>
            <a:prstDash val="solid"/>
            <a:round/>
          </a:ln>
        </p:spPr>
      </p:sp>
      <p:sp>
        <p:nvSpPr>
          <p:cNvPr name="TextBox 18" id="18"/>
          <p:cNvSpPr txBox="true"/>
          <p:nvPr/>
        </p:nvSpPr>
        <p:spPr>
          <a:xfrm rot="0">
            <a:off x="9807981" y="5210615"/>
            <a:ext cx="6662639" cy="1996534"/>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Semi-Bold"/>
                <a:ea typeface="Montserrat Semi-Bold"/>
                <a:cs typeface="Montserrat Semi-Bold"/>
                <a:sym typeface="Montserrat Semi-Bold"/>
              </a:rPr>
              <a:t>CS163</a:t>
            </a:r>
          </a:p>
          <a:p>
            <a:pPr algn="l">
              <a:lnSpc>
                <a:spcPts val="7574"/>
              </a:lnSpc>
            </a:pPr>
            <a:r>
              <a:rPr lang="en-US" b="true" sz="8510">
                <a:solidFill>
                  <a:srgbClr val="3E67C8"/>
                </a:solidFill>
                <a:latin typeface="Montserrat Semi-Bold"/>
                <a:ea typeface="Montserrat Semi-Bold"/>
                <a:cs typeface="Montserrat Semi-Bold"/>
                <a:sym typeface="Montserrat Semi-Bold"/>
              </a:rPr>
              <a:t>Group 58</a:t>
            </a:r>
          </a:p>
        </p:txBody>
      </p:sp>
      <p:sp>
        <p:nvSpPr>
          <p:cNvPr name="TextBox 19" id="19"/>
          <p:cNvSpPr txBox="true"/>
          <p:nvPr/>
        </p:nvSpPr>
        <p:spPr>
          <a:xfrm rot="0">
            <a:off x="9807981" y="4235371"/>
            <a:ext cx="6662639"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Ultra-Bold"/>
                <a:ea typeface="Montserrat Ultra-Bold"/>
                <a:cs typeface="Montserrat Ultra-Bold"/>
                <a:sym typeface="Montserrat Ultra-Bold"/>
              </a:rPr>
              <a:t>QUADTREE</a:t>
            </a:r>
          </a:p>
        </p:txBody>
      </p:sp>
      <p:sp>
        <p:nvSpPr>
          <p:cNvPr name="TextBox 20" id="20"/>
          <p:cNvSpPr txBox="true"/>
          <p:nvPr/>
        </p:nvSpPr>
        <p:spPr>
          <a:xfrm rot="0">
            <a:off x="1132346" y="971550"/>
            <a:ext cx="2141695"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a:t>
            </a:r>
          </a:p>
        </p:txBody>
      </p:sp>
      <p:sp>
        <p:nvSpPr>
          <p:cNvPr name="TextBox 21" id="21"/>
          <p:cNvSpPr txBox="true"/>
          <p:nvPr/>
        </p:nvSpPr>
        <p:spPr>
          <a:xfrm rot="0">
            <a:off x="9855424" y="7166659"/>
            <a:ext cx="7403876" cy="1069837"/>
          </a:xfrm>
          <a:prstGeom prst="rect">
            <a:avLst/>
          </a:prstGeom>
        </p:spPr>
        <p:txBody>
          <a:bodyPr anchor="t" rtlCol="false" tIns="0" lIns="0" bIns="0" rIns="0">
            <a:spAutoFit/>
          </a:bodyPr>
          <a:lstStyle/>
          <a:p>
            <a:pPr algn="l">
              <a:lnSpc>
                <a:spcPts val="2803"/>
              </a:lnSpc>
            </a:pPr>
            <a:r>
              <a:rPr lang="en-US" sz="2224" b="true">
                <a:solidFill>
                  <a:srgbClr val="3E67C8"/>
                </a:solidFill>
                <a:latin typeface="Montserrat Medium"/>
                <a:ea typeface="Montserrat Medium"/>
                <a:cs typeface="Montserrat Medium"/>
                <a:sym typeface="Montserrat Medium"/>
              </a:rPr>
              <a:t>Dương Gia Khương - 24125063</a:t>
            </a:r>
          </a:p>
          <a:p>
            <a:pPr algn="l">
              <a:lnSpc>
                <a:spcPts val="2803"/>
              </a:lnSpc>
            </a:pPr>
            <a:r>
              <a:rPr lang="en-US" sz="2224" b="true">
                <a:solidFill>
                  <a:srgbClr val="3E67C8"/>
                </a:solidFill>
                <a:latin typeface="Montserrat Medium"/>
                <a:ea typeface="Montserrat Medium"/>
                <a:cs typeface="Montserrat Medium"/>
                <a:sym typeface="Montserrat Medium"/>
              </a:rPr>
              <a:t>Nguyễn Chí Tính - 24125019</a:t>
            </a:r>
          </a:p>
          <a:p>
            <a:pPr algn="l">
              <a:lnSpc>
                <a:spcPts val="2803"/>
              </a:lnSpc>
            </a:pPr>
          </a:p>
        </p:txBody>
      </p:sp>
      <p:sp>
        <p:nvSpPr>
          <p:cNvPr name="TextBox 22" id="22"/>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01</a:t>
            </a:r>
          </a:p>
        </p:txBody>
      </p:sp>
      <p:sp>
        <p:nvSpPr>
          <p:cNvPr name="TextBox 23" id="23"/>
          <p:cNvSpPr txBox="true"/>
          <p:nvPr/>
        </p:nvSpPr>
        <p:spPr>
          <a:xfrm rot="0">
            <a:off x="1132346" y="971550"/>
            <a:ext cx="2537352"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solidFill>
              <a:srgbClr val="8C7441"/>
            </a:soli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solidFill>
              <a:srgbClr val="8C7441"/>
            </a:soli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9" id="9"/>
          <p:cNvGrpSpPr/>
          <p:nvPr/>
        </p:nvGrpSpPr>
        <p:grpSpPr>
          <a:xfrm rot="0">
            <a:off x="295826" y="2192937"/>
            <a:ext cx="4211257" cy="42112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7441"/>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AutoShape 12" id="12"/>
          <p:cNvSpPr/>
          <p:nvPr/>
        </p:nvSpPr>
        <p:spPr>
          <a:xfrm>
            <a:off x="-550598" y="1717649"/>
            <a:ext cx="19996945" cy="0"/>
          </a:xfrm>
          <a:prstGeom prst="line">
            <a:avLst/>
          </a:prstGeom>
          <a:ln cap="flat" w="38100">
            <a:gradFill>
              <a:gsLst>
                <a:gs pos="0">
                  <a:srgbClr val="006CCD">
                    <a:alpha val="100000"/>
                  </a:srgbClr>
                </a:gs>
                <a:gs pos="100000">
                  <a:srgbClr val="F5AEFF">
                    <a:alpha val="0"/>
                  </a:srgbClr>
                </a:gs>
              </a:gsLst>
              <a:lin ang="0"/>
            </a:gradFill>
            <a:prstDash val="solid"/>
            <a:headEnd type="none" len="sm" w="sm"/>
            <a:tailEnd type="none" len="sm" w="sm"/>
          </a:ln>
        </p:spPr>
      </p:sp>
      <p:grpSp>
        <p:nvGrpSpPr>
          <p:cNvPr name="Group 13" id="13"/>
          <p:cNvGrpSpPr/>
          <p:nvPr/>
        </p:nvGrpSpPr>
        <p:grpSpPr>
          <a:xfrm rot="0">
            <a:off x="8739421" y="3165447"/>
            <a:ext cx="1087687" cy="164050"/>
            <a:chOff x="0" y="0"/>
            <a:chExt cx="286469" cy="43207"/>
          </a:xfrm>
        </p:grpSpPr>
        <p:sp>
          <p:nvSpPr>
            <p:cNvPr name="Freeform 14" id="14"/>
            <p:cNvSpPr/>
            <p:nvPr/>
          </p:nvSpPr>
          <p:spPr>
            <a:xfrm flipH="false" flipV="false" rot="0">
              <a:off x="0" y="0"/>
              <a:ext cx="286469" cy="43207"/>
            </a:xfrm>
            <a:custGeom>
              <a:avLst/>
              <a:gdLst/>
              <a:ahLst/>
              <a:cxnLst/>
              <a:rect r="r" b="b" t="t" l="l"/>
              <a:pathLst>
                <a:path h="43207" w="286469">
                  <a:moveTo>
                    <a:pt x="0" y="0"/>
                  </a:moveTo>
                  <a:lnTo>
                    <a:pt x="286469" y="0"/>
                  </a:lnTo>
                  <a:lnTo>
                    <a:pt x="286469" y="43207"/>
                  </a:lnTo>
                  <a:lnTo>
                    <a:pt x="0" y="43207"/>
                  </a:lnTo>
                  <a:close/>
                </a:path>
              </a:pathLst>
            </a:custGeom>
            <a:gradFill rotWithShape="true">
              <a:gsLst>
                <a:gs pos="0">
                  <a:srgbClr val="006CCD">
                    <a:alpha val="100000"/>
                  </a:srgbClr>
                </a:gs>
                <a:gs pos="50000">
                  <a:srgbClr val="AF5ABB">
                    <a:alpha val="97000"/>
                  </a:srgbClr>
                </a:gs>
                <a:gs pos="100000">
                  <a:srgbClr val="F5AEFF">
                    <a:alpha val="0"/>
                  </a:srgbClr>
                </a:gs>
              </a:gsLst>
              <a:lin ang="0"/>
            </a:gradFill>
          </p:spPr>
        </p:sp>
        <p:sp>
          <p:nvSpPr>
            <p:cNvPr name="TextBox 15" id="15"/>
            <p:cNvSpPr txBox="true"/>
            <p:nvPr/>
          </p:nvSpPr>
          <p:spPr>
            <a:xfrm>
              <a:off x="0" y="-38100"/>
              <a:ext cx="286469" cy="81307"/>
            </a:xfrm>
            <a:prstGeom prst="rect">
              <a:avLst/>
            </a:prstGeom>
          </p:spPr>
          <p:txBody>
            <a:bodyPr anchor="ctr" rtlCol="false" tIns="50800" lIns="50800" bIns="50800" rIns="50800"/>
            <a:lstStyle/>
            <a:p>
              <a:pPr algn="ctr">
                <a:lnSpc>
                  <a:spcPts val="2199"/>
                </a:lnSpc>
              </a:pPr>
            </a:p>
          </p:txBody>
        </p:sp>
      </p:grpSp>
      <p:sp>
        <p:nvSpPr>
          <p:cNvPr name="Freeform 16" id="16"/>
          <p:cNvSpPr/>
          <p:nvPr/>
        </p:nvSpPr>
        <p:spPr>
          <a:xfrm flipH="false" flipV="false" rot="0">
            <a:off x="1484657" y="2901342"/>
            <a:ext cx="6356958" cy="6356958"/>
          </a:xfrm>
          <a:custGeom>
            <a:avLst/>
            <a:gdLst/>
            <a:ahLst/>
            <a:cxnLst/>
            <a:rect r="r" b="b" t="t" l="l"/>
            <a:pathLst>
              <a:path h="6356958" w="6356958">
                <a:moveTo>
                  <a:pt x="0" y="0"/>
                </a:moveTo>
                <a:lnTo>
                  <a:pt x="6356959" y="0"/>
                </a:lnTo>
                <a:lnTo>
                  <a:pt x="6356959" y="6356958"/>
                </a:lnTo>
                <a:lnTo>
                  <a:pt x="0" y="6356958"/>
                </a:lnTo>
                <a:lnTo>
                  <a:pt x="0" y="0"/>
                </a:lnTo>
                <a:close/>
              </a:path>
            </a:pathLst>
          </a:custGeom>
          <a:blipFill>
            <a:blip r:embed="rId3"/>
            <a:stretch>
              <a:fillRect l="0" t="0" r="0" b="0"/>
            </a:stretch>
          </a:blipFill>
        </p:spPr>
      </p:sp>
      <p:sp>
        <p:nvSpPr>
          <p:cNvPr name="TextBox 17" id="17"/>
          <p:cNvSpPr txBox="true"/>
          <p:nvPr/>
        </p:nvSpPr>
        <p:spPr>
          <a:xfrm rot="0">
            <a:off x="1132346" y="971550"/>
            <a:ext cx="2537352"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8" id="18"/>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02</a:t>
            </a:r>
          </a:p>
        </p:txBody>
      </p:sp>
      <p:sp>
        <p:nvSpPr>
          <p:cNvPr name="TextBox 19" id="19"/>
          <p:cNvSpPr txBox="true"/>
          <p:nvPr/>
        </p:nvSpPr>
        <p:spPr>
          <a:xfrm rot="0">
            <a:off x="8646798" y="3865322"/>
            <a:ext cx="7315652" cy="1037211"/>
          </a:xfrm>
          <a:prstGeom prst="rect">
            <a:avLst/>
          </a:prstGeom>
        </p:spPr>
        <p:txBody>
          <a:bodyPr anchor="t" rtlCol="false" tIns="0" lIns="0" bIns="0" rIns="0">
            <a:spAutoFit/>
          </a:bodyPr>
          <a:lstStyle/>
          <a:p>
            <a:pPr algn="l">
              <a:lnSpc>
                <a:spcPts val="7574"/>
              </a:lnSpc>
            </a:pPr>
            <a:r>
              <a:rPr lang="en-US" sz="8510" b="true">
                <a:solidFill>
                  <a:srgbClr val="006CCD"/>
                </a:solidFill>
                <a:latin typeface="Montserrat Ultra-Bold"/>
                <a:ea typeface="Montserrat Ultra-Bold"/>
                <a:cs typeface="Montserrat Ultra-Bold"/>
                <a:sym typeface="Montserrat Ultra-Bold"/>
              </a:rPr>
              <a:t>Introduction</a:t>
            </a:r>
          </a:p>
        </p:txBody>
      </p:sp>
      <p:sp>
        <p:nvSpPr>
          <p:cNvPr name="TextBox 20" id="20"/>
          <p:cNvSpPr txBox="true"/>
          <p:nvPr/>
        </p:nvSpPr>
        <p:spPr>
          <a:xfrm rot="0">
            <a:off x="8739421" y="5178876"/>
            <a:ext cx="9104090" cy="3973565"/>
          </a:xfrm>
          <a:prstGeom prst="rect">
            <a:avLst/>
          </a:prstGeom>
        </p:spPr>
        <p:txBody>
          <a:bodyPr anchor="t" rtlCol="false" tIns="0" lIns="0" bIns="0" rIns="0">
            <a:spAutoFit/>
          </a:bodyPr>
          <a:lstStyle/>
          <a:p>
            <a:pPr algn="just">
              <a:lnSpc>
                <a:spcPts val="2878"/>
              </a:lnSpc>
            </a:pPr>
            <a:r>
              <a:rPr lang="en-US" b="true" sz="2284">
                <a:solidFill>
                  <a:srgbClr val="006CCD"/>
                </a:solidFill>
                <a:latin typeface="Montserrat Bold"/>
                <a:ea typeface="Montserrat Bold"/>
                <a:cs typeface="Montserrat Bold"/>
                <a:sym typeface="Montserrat Bold"/>
              </a:rPr>
              <a:t>When you search for “Best restaurants near me” on Google Maps, it quickly displays a list of good restaurants within a 2km radius. With billions of restaurants worldwide, the system must process a vast amount of spatial data. Finding a restaurant within a specific area requires fast and efficient query processing. This application is part of a Geographic Information System (GIS). How does Google Maps achieve this? This article analyzes the Quadtree data structure: Definition, Concept, Implementation, Visualization Demo, Time Complexity, Space Complexity, Types of Quadtree, and some applications of Quadtree.</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50598" y="1381711"/>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0" id="10"/>
          <p:cNvGrpSpPr/>
          <p:nvPr/>
        </p:nvGrpSpPr>
        <p:grpSpPr>
          <a:xfrm rot="0">
            <a:off x="8531868" y="2569139"/>
            <a:ext cx="407555" cy="40755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3" id="13"/>
          <p:cNvGrpSpPr/>
          <p:nvPr/>
        </p:nvGrpSpPr>
        <p:grpSpPr>
          <a:xfrm rot="0">
            <a:off x="9191455" y="2472577"/>
            <a:ext cx="11626266" cy="600679"/>
            <a:chOff x="0" y="0"/>
            <a:chExt cx="3062062" cy="158203"/>
          </a:xfrm>
        </p:grpSpPr>
        <p:sp>
          <p:nvSpPr>
            <p:cNvPr name="Freeform 14" id="14"/>
            <p:cNvSpPr/>
            <p:nvPr/>
          </p:nvSpPr>
          <p:spPr>
            <a:xfrm flipH="false" flipV="false" rot="0">
              <a:off x="0" y="0"/>
              <a:ext cx="3062062" cy="158203"/>
            </a:xfrm>
            <a:custGeom>
              <a:avLst/>
              <a:gdLst/>
              <a:ahLst/>
              <a:cxnLst/>
              <a:rect r="r" b="b" t="t" l="l"/>
              <a:pathLst>
                <a:path h="158203" w="3062062">
                  <a:moveTo>
                    <a:pt x="0" y="0"/>
                  </a:moveTo>
                  <a:lnTo>
                    <a:pt x="3062062" y="0"/>
                  </a:lnTo>
                  <a:lnTo>
                    <a:pt x="3062062" y="158203"/>
                  </a:lnTo>
                  <a:lnTo>
                    <a:pt x="0" y="158203"/>
                  </a:lnTo>
                  <a:close/>
                </a:path>
              </a:pathLst>
            </a:custGeom>
            <a:gradFill rotWithShape="true">
              <a:gsLst>
                <a:gs pos="0">
                  <a:srgbClr val="006CCD">
                    <a:alpha val="100000"/>
                  </a:srgbClr>
                </a:gs>
                <a:gs pos="50000">
                  <a:srgbClr val="AF5ABB">
                    <a:alpha val="97000"/>
                  </a:srgbClr>
                </a:gs>
                <a:gs pos="100000">
                  <a:srgbClr val="F5AEFF">
                    <a:alpha val="0"/>
                  </a:srgbClr>
                </a:gs>
              </a:gsLst>
              <a:lin ang="0"/>
            </a:gradFill>
          </p:spPr>
        </p:sp>
        <p:sp>
          <p:nvSpPr>
            <p:cNvPr name="TextBox 15" id="15"/>
            <p:cNvSpPr txBox="true"/>
            <p:nvPr/>
          </p:nvSpPr>
          <p:spPr>
            <a:xfrm>
              <a:off x="0" y="-38100"/>
              <a:ext cx="3062062" cy="196303"/>
            </a:xfrm>
            <a:prstGeom prst="rect">
              <a:avLst/>
            </a:prstGeom>
          </p:spPr>
          <p:txBody>
            <a:bodyPr anchor="ctr" rtlCol="false" tIns="50800" lIns="50800" bIns="50800" rIns="50800"/>
            <a:lstStyle/>
            <a:p>
              <a:pPr algn="ctr">
                <a:lnSpc>
                  <a:spcPts val="2199"/>
                </a:lnSpc>
              </a:pPr>
            </a:p>
          </p:txBody>
        </p:sp>
      </p:grpSp>
      <p:sp>
        <p:nvSpPr>
          <p:cNvPr name="Freeform 16" id="16"/>
          <p:cNvSpPr/>
          <p:nvPr/>
        </p:nvSpPr>
        <p:spPr>
          <a:xfrm flipH="false" flipV="false" rot="0">
            <a:off x="1767764" y="2958965"/>
            <a:ext cx="4033626" cy="5118821"/>
          </a:xfrm>
          <a:custGeom>
            <a:avLst/>
            <a:gdLst/>
            <a:ahLst/>
            <a:cxnLst/>
            <a:rect r="r" b="b" t="t" l="l"/>
            <a:pathLst>
              <a:path h="5118821" w="4033626">
                <a:moveTo>
                  <a:pt x="0" y="0"/>
                </a:moveTo>
                <a:lnTo>
                  <a:pt x="4033626" y="0"/>
                </a:lnTo>
                <a:lnTo>
                  <a:pt x="4033626" y="5118821"/>
                </a:lnTo>
                <a:lnTo>
                  <a:pt x="0" y="5118821"/>
                </a:lnTo>
                <a:lnTo>
                  <a:pt x="0" y="0"/>
                </a:lnTo>
                <a:close/>
              </a:path>
            </a:pathLst>
          </a:custGeom>
          <a:blipFill>
            <a:blip r:embed="rId3"/>
            <a:stretch>
              <a:fillRect l="0" t="0" r="0" b="-10512"/>
            </a:stretch>
          </a:blipFill>
        </p:spPr>
      </p:sp>
      <p:sp>
        <p:nvSpPr>
          <p:cNvPr name="TextBox 17" id="17"/>
          <p:cNvSpPr txBox="true"/>
          <p:nvPr/>
        </p:nvSpPr>
        <p:spPr>
          <a:xfrm rot="0">
            <a:off x="1132346" y="971550"/>
            <a:ext cx="2980487" cy="65745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a:p>
            <a:pPr algn="l">
              <a:lnSpc>
                <a:spcPts val="2612"/>
              </a:lnSpc>
            </a:pPr>
          </a:p>
        </p:txBody>
      </p:sp>
      <p:sp>
        <p:nvSpPr>
          <p:cNvPr name="TextBox 18" id="18"/>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03</a:t>
            </a:r>
          </a:p>
        </p:txBody>
      </p:sp>
      <p:sp>
        <p:nvSpPr>
          <p:cNvPr name="TextBox 19" id="19"/>
          <p:cNvSpPr txBox="true"/>
          <p:nvPr/>
        </p:nvSpPr>
        <p:spPr>
          <a:xfrm rot="0">
            <a:off x="1132346" y="2082559"/>
            <a:ext cx="7905060"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Ultra-Bold"/>
                <a:ea typeface="Montserrat Ultra-Bold"/>
                <a:cs typeface="Montserrat Ultra-Bold"/>
                <a:sym typeface="Montserrat Ultra-Bold"/>
              </a:rPr>
              <a:t>Definition</a:t>
            </a:r>
          </a:p>
        </p:txBody>
      </p:sp>
      <p:sp>
        <p:nvSpPr>
          <p:cNvPr name="TextBox 20" id="20"/>
          <p:cNvSpPr txBox="true"/>
          <p:nvPr/>
        </p:nvSpPr>
        <p:spPr>
          <a:xfrm rot="0">
            <a:off x="8531868" y="3176920"/>
            <a:ext cx="9542218" cy="5201955"/>
          </a:xfrm>
          <a:prstGeom prst="rect">
            <a:avLst/>
          </a:prstGeom>
        </p:spPr>
        <p:txBody>
          <a:bodyPr anchor="t" rtlCol="false" tIns="0" lIns="0" bIns="0" rIns="0">
            <a:spAutoFit/>
          </a:bodyPr>
          <a:lstStyle/>
          <a:p>
            <a:pPr algn="just">
              <a:lnSpc>
                <a:spcPts val="2934"/>
              </a:lnSpc>
            </a:pPr>
            <a:r>
              <a:rPr lang="en-US" sz="2328" b="true">
                <a:solidFill>
                  <a:srgbClr val="3E67C8"/>
                </a:solidFill>
                <a:latin typeface="Montserrat Bold"/>
                <a:ea typeface="Montserrat Bold"/>
                <a:cs typeface="Montserrat Bold"/>
                <a:sym typeface="Montserrat Bold"/>
              </a:rPr>
              <a:t>The Quadtree is a hierarchical spatial data structure. It is a tree where each level represents a further refinement of the considered space. Although there are many types of Quadtrees and they can be generalized to any dimension, the fundamental idea is always a recursive decomposition of space, allowing us to store only essential or interesting information about the space.</a:t>
            </a:r>
          </a:p>
          <a:p>
            <a:pPr algn="just">
              <a:lnSpc>
                <a:spcPts val="2934"/>
              </a:lnSpc>
            </a:pPr>
            <a:r>
              <a:rPr lang="en-US" sz="2328" b="true">
                <a:solidFill>
                  <a:srgbClr val="BE6E63"/>
                </a:solidFill>
                <a:latin typeface="Montserrat Bold"/>
                <a:ea typeface="Montserrat Bold"/>
                <a:cs typeface="Montserrat Bold"/>
                <a:sym typeface="Montserrat Bold"/>
              </a:rPr>
              <a:t>https://people.scs.carleton.ca/~maheshwa/courses/5703COMP/16Fall/quadtrees-paper.pdf]</a:t>
            </a:r>
          </a:p>
          <a:p>
            <a:pPr algn="just">
              <a:lnSpc>
                <a:spcPts val="2934"/>
              </a:lnSpc>
            </a:pPr>
          </a:p>
          <a:p>
            <a:pPr algn="l">
              <a:lnSpc>
                <a:spcPts val="2934"/>
              </a:lnSpc>
            </a:pPr>
            <a:r>
              <a:rPr lang="en-US" sz="2328" b="true">
                <a:solidFill>
                  <a:srgbClr val="006CCD"/>
                </a:solidFill>
                <a:latin typeface="Montserrat Bold"/>
                <a:ea typeface="Montserrat Bold"/>
                <a:cs typeface="Montserrat Bold"/>
                <a:sym typeface="Montserrat Bold"/>
              </a:rPr>
              <a:t>In this article, we focus on Quadtree in 2D space. Typically, 2D space is considered a square grid with unit squares in a two-dimensional Euclidean plane.</a:t>
            </a:r>
          </a:p>
          <a:p>
            <a:pPr algn="l">
              <a:lnSpc>
                <a:spcPts val="2934"/>
              </a:lnSpc>
            </a:pPr>
          </a:p>
        </p:txBody>
      </p:sp>
      <p:sp>
        <p:nvSpPr>
          <p:cNvPr name="TextBox 21" id="21"/>
          <p:cNvSpPr txBox="true"/>
          <p:nvPr/>
        </p:nvSpPr>
        <p:spPr>
          <a:xfrm rot="0">
            <a:off x="9450365" y="2586083"/>
            <a:ext cx="8623720" cy="390611"/>
          </a:xfrm>
          <a:prstGeom prst="rect">
            <a:avLst/>
          </a:prstGeom>
        </p:spPr>
        <p:txBody>
          <a:bodyPr anchor="t" rtlCol="false" tIns="0" lIns="0" bIns="0" rIns="0">
            <a:spAutoFit/>
          </a:bodyPr>
          <a:lstStyle/>
          <a:p>
            <a:pPr algn="l">
              <a:lnSpc>
                <a:spcPts val="3151"/>
              </a:lnSpc>
            </a:pPr>
            <a:r>
              <a:rPr lang="en-US" sz="2501" b="true">
                <a:solidFill>
                  <a:srgbClr val="FFFFFF"/>
                </a:solidFill>
                <a:latin typeface="Montserrat Bold"/>
                <a:ea typeface="Montserrat Bold"/>
                <a:cs typeface="Montserrat Bold"/>
                <a:sym typeface="Montserrat Bold"/>
              </a:rPr>
              <a:t>Quad Tree,</a:t>
            </a:r>
            <a:r>
              <a:rPr lang="en-US" b="true" sz="2501" u="sng">
                <a:solidFill>
                  <a:srgbClr val="FFFFFF"/>
                </a:solidFill>
                <a:latin typeface="Montserrat Bold"/>
                <a:ea typeface="Montserrat Bold"/>
                <a:cs typeface="Montserrat Bold"/>
                <a:sym typeface="Montserrat Bold"/>
                <a:hlinkClick r:id="rId4" tooltip="https://en.m.wikipedia.org/wiki/Raphael_Finkel"/>
              </a:rPr>
              <a:t>Raphael Finkel</a:t>
            </a:r>
            <a:r>
              <a:rPr lang="en-US" sz="2501" b="true">
                <a:solidFill>
                  <a:srgbClr val="FFFFFF"/>
                </a:solidFill>
                <a:latin typeface="Montserrat Bold"/>
                <a:ea typeface="Montserrat Bold"/>
                <a:cs typeface="Montserrat Bold"/>
                <a:sym typeface="Montserrat Bold"/>
              </a:rPr>
              <a:t> and </a:t>
            </a:r>
            <a:r>
              <a:rPr lang="en-US" b="true" sz="2501" u="sng">
                <a:solidFill>
                  <a:srgbClr val="FFFFFF"/>
                </a:solidFill>
                <a:latin typeface="Montserrat Bold"/>
                <a:ea typeface="Montserrat Bold"/>
                <a:cs typeface="Montserrat Bold"/>
                <a:sym typeface="Montserrat Bold"/>
                <a:hlinkClick r:id="rId5" tooltip="https://en.m.wikipedia.org/wiki/J.L._Bentley"/>
              </a:rPr>
              <a:t>J.L. Bentley</a:t>
            </a:r>
            <a:r>
              <a:rPr lang="en-US" sz="2501" b="true">
                <a:solidFill>
                  <a:srgbClr val="FFFFFF"/>
                </a:solidFill>
                <a:latin typeface="Montserrat Bold"/>
                <a:ea typeface="Montserrat Bold"/>
                <a:cs typeface="Montserrat Bold"/>
                <a:sym typeface="Montserrat Bold"/>
              </a:rPr>
              <a:t> in 1974.</a:t>
            </a:r>
          </a:p>
        </p:txBody>
      </p:sp>
      <p:sp>
        <p:nvSpPr>
          <p:cNvPr name="TextBox 22" id="22"/>
          <p:cNvSpPr txBox="true"/>
          <p:nvPr/>
        </p:nvSpPr>
        <p:spPr>
          <a:xfrm rot="0">
            <a:off x="2295418" y="8173036"/>
            <a:ext cx="2789458" cy="680394"/>
          </a:xfrm>
          <a:prstGeom prst="rect">
            <a:avLst/>
          </a:prstGeom>
        </p:spPr>
        <p:txBody>
          <a:bodyPr anchor="t" rtlCol="false" tIns="0" lIns="0" bIns="0" rIns="0">
            <a:spAutoFit/>
          </a:bodyPr>
          <a:lstStyle/>
          <a:p>
            <a:pPr algn="ctr">
              <a:lnSpc>
                <a:spcPts val="5356"/>
              </a:lnSpc>
              <a:spcBef>
                <a:spcPct val="0"/>
              </a:spcBef>
            </a:pPr>
            <a:r>
              <a:rPr lang="en-US" b="true" sz="3826">
                <a:solidFill>
                  <a:srgbClr val="000000"/>
                </a:solidFill>
                <a:latin typeface="Poppins Medium"/>
                <a:ea typeface="Poppins Medium"/>
                <a:cs typeface="Poppins Medium"/>
                <a:sym typeface="Poppins Medium"/>
              </a:rPr>
              <a:t> J.L. Bentley</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50598" y="1381711"/>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0" id="10"/>
          <p:cNvGrpSpPr/>
          <p:nvPr/>
        </p:nvGrpSpPr>
        <p:grpSpPr>
          <a:xfrm rot="0">
            <a:off x="8531868" y="2569139"/>
            <a:ext cx="407555" cy="40755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3" id="13"/>
          <p:cNvGrpSpPr/>
          <p:nvPr/>
        </p:nvGrpSpPr>
        <p:grpSpPr>
          <a:xfrm rot="0">
            <a:off x="9191455" y="2472577"/>
            <a:ext cx="9252325" cy="600679"/>
            <a:chOff x="0" y="0"/>
            <a:chExt cx="2436826" cy="158203"/>
          </a:xfrm>
        </p:grpSpPr>
        <p:sp>
          <p:nvSpPr>
            <p:cNvPr name="Freeform 14" id="14"/>
            <p:cNvSpPr/>
            <p:nvPr/>
          </p:nvSpPr>
          <p:spPr>
            <a:xfrm flipH="false" flipV="false" rot="0">
              <a:off x="0" y="0"/>
              <a:ext cx="2436826" cy="158203"/>
            </a:xfrm>
            <a:custGeom>
              <a:avLst/>
              <a:gdLst/>
              <a:ahLst/>
              <a:cxnLst/>
              <a:rect r="r" b="b" t="t" l="l"/>
              <a:pathLst>
                <a:path h="158203" w="2436826">
                  <a:moveTo>
                    <a:pt x="0" y="0"/>
                  </a:moveTo>
                  <a:lnTo>
                    <a:pt x="2436826" y="0"/>
                  </a:lnTo>
                  <a:lnTo>
                    <a:pt x="2436826" y="158203"/>
                  </a:lnTo>
                  <a:lnTo>
                    <a:pt x="0" y="158203"/>
                  </a:lnTo>
                  <a:close/>
                </a:path>
              </a:pathLst>
            </a:custGeom>
            <a:gradFill rotWithShape="true">
              <a:gsLst>
                <a:gs pos="0">
                  <a:srgbClr val="006CCD">
                    <a:alpha val="100000"/>
                  </a:srgbClr>
                </a:gs>
                <a:gs pos="50000">
                  <a:srgbClr val="AF5ABB">
                    <a:alpha val="97000"/>
                  </a:srgbClr>
                </a:gs>
                <a:gs pos="100000">
                  <a:srgbClr val="F5AEFF">
                    <a:alpha val="0"/>
                  </a:srgbClr>
                </a:gs>
              </a:gsLst>
              <a:lin ang="0"/>
            </a:gradFill>
          </p:spPr>
        </p:sp>
        <p:sp>
          <p:nvSpPr>
            <p:cNvPr name="TextBox 15" id="15"/>
            <p:cNvSpPr txBox="true"/>
            <p:nvPr/>
          </p:nvSpPr>
          <p:spPr>
            <a:xfrm>
              <a:off x="0" y="-38100"/>
              <a:ext cx="2436826" cy="196303"/>
            </a:xfrm>
            <a:prstGeom prst="rect">
              <a:avLst/>
            </a:prstGeom>
          </p:spPr>
          <p:txBody>
            <a:bodyPr anchor="ctr" rtlCol="false" tIns="50800" lIns="50800" bIns="50800" rIns="50800"/>
            <a:lstStyle/>
            <a:p>
              <a:pPr algn="ctr">
                <a:lnSpc>
                  <a:spcPts val="2199"/>
                </a:lnSpc>
              </a:pPr>
            </a:p>
          </p:txBody>
        </p:sp>
      </p:grpSp>
      <p:sp>
        <p:nvSpPr>
          <p:cNvPr name="Freeform 16" id="16"/>
          <p:cNvSpPr/>
          <p:nvPr/>
        </p:nvSpPr>
        <p:spPr>
          <a:xfrm flipH="false" flipV="false" rot="0">
            <a:off x="957214" y="3657782"/>
            <a:ext cx="7574654" cy="3405489"/>
          </a:xfrm>
          <a:custGeom>
            <a:avLst/>
            <a:gdLst/>
            <a:ahLst/>
            <a:cxnLst/>
            <a:rect r="r" b="b" t="t" l="l"/>
            <a:pathLst>
              <a:path h="3405489" w="7574654">
                <a:moveTo>
                  <a:pt x="0" y="0"/>
                </a:moveTo>
                <a:lnTo>
                  <a:pt x="7574654" y="0"/>
                </a:lnTo>
                <a:lnTo>
                  <a:pt x="7574654" y="3405489"/>
                </a:lnTo>
                <a:lnTo>
                  <a:pt x="0" y="3405489"/>
                </a:lnTo>
                <a:lnTo>
                  <a:pt x="0" y="0"/>
                </a:lnTo>
                <a:close/>
              </a:path>
            </a:pathLst>
          </a:custGeom>
          <a:blipFill>
            <a:blip r:embed="rId3"/>
            <a:stretch>
              <a:fillRect l="0" t="-3810" r="0" b="-8668"/>
            </a:stretch>
          </a:blipFill>
        </p:spPr>
      </p:sp>
      <p:sp>
        <p:nvSpPr>
          <p:cNvPr name="TextBox 17" id="17"/>
          <p:cNvSpPr txBox="true"/>
          <p:nvPr/>
        </p:nvSpPr>
        <p:spPr>
          <a:xfrm rot="0">
            <a:off x="1132346" y="971550"/>
            <a:ext cx="2648136" cy="65745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a:p>
            <a:pPr algn="l">
              <a:lnSpc>
                <a:spcPts val="2612"/>
              </a:lnSpc>
            </a:pPr>
          </a:p>
        </p:txBody>
      </p:sp>
      <p:sp>
        <p:nvSpPr>
          <p:cNvPr name="TextBox 18" id="18"/>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04</a:t>
            </a:r>
          </a:p>
        </p:txBody>
      </p:sp>
      <p:sp>
        <p:nvSpPr>
          <p:cNvPr name="TextBox 19" id="19"/>
          <p:cNvSpPr txBox="true"/>
          <p:nvPr/>
        </p:nvSpPr>
        <p:spPr>
          <a:xfrm rot="0">
            <a:off x="1132346" y="1996834"/>
            <a:ext cx="7905060"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Ultra-Bold"/>
                <a:ea typeface="Montserrat Ultra-Bold"/>
                <a:cs typeface="Montserrat Ultra-Bold"/>
                <a:sym typeface="Montserrat Ultra-Bold"/>
              </a:rPr>
              <a:t>Definition(cont)</a:t>
            </a:r>
          </a:p>
        </p:txBody>
      </p:sp>
      <p:sp>
        <p:nvSpPr>
          <p:cNvPr name="TextBox 20" id="20"/>
          <p:cNvSpPr txBox="true"/>
          <p:nvPr/>
        </p:nvSpPr>
        <p:spPr>
          <a:xfrm rot="0">
            <a:off x="8531868" y="3492356"/>
            <a:ext cx="9542218" cy="4286320"/>
          </a:xfrm>
          <a:prstGeom prst="rect">
            <a:avLst/>
          </a:prstGeom>
        </p:spPr>
        <p:txBody>
          <a:bodyPr anchor="t" rtlCol="false" tIns="0" lIns="0" bIns="0" rIns="0">
            <a:spAutoFit/>
          </a:bodyPr>
          <a:lstStyle/>
          <a:p>
            <a:pPr algn="just">
              <a:lnSpc>
                <a:spcPts val="3138"/>
              </a:lnSpc>
            </a:pPr>
            <a:r>
              <a:rPr lang="en-US" sz="2490" b="true">
                <a:solidFill>
                  <a:srgbClr val="3E67C8"/>
                </a:solidFill>
                <a:latin typeface="Montserrat Bold"/>
                <a:ea typeface="Montserrat Bold"/>
                <a:cs typeface="Montserrat Bold"/>
                <a:sym typeface="Montserrat Bold"/>
              </a:rPr>
              <a:t>To understand it better, Quadtrees are trees used to efficiently store point data in a 2D space. Each node has at most four children. We can construct a Quadtree from a two-dimensional area using the following steps:</a:t>
            </a:r>
          </a:p>
          <a:p>
            <a:pPr algn="just" marL="537753" indent="-268876" lvl="1">
              <a:lnSpc>
                <a:spcPts val="3138"/>
              </a:lnSpc>
              <a:buAutoNum type="arabicPeriod" startAt="1"/>
            </a:pPr>
            <a:r>
              <a:rPr lang="en-US" b="true" sz="2490">
                <a:solidFill>
                  <a:srgbClr val="FF66C4"/>
                </a:solidFill>
                <a:latin typeface="Montserrat Bold"/>
                <a:ea typeface="Montserrat Bold"/>
                <a:cs typeface="Montserrat Bold"/>
                <a:sym typeface="Montserrat Bold"/>
              </a:rPr>
              <a:t>Divide the current two-dimensional space into four equal regions.</a:t>
            </a:r>
          </a:p>
          <a:p>
            <a:pPr algn="just" marL="537753" indent="-268876" lvl="1">
              <a:lnSpc>
                <a:spcPts val="3138"/>
              </a:lnSpc>
              <a:buAutoNum type="arabicPeriod" startAt="1"/>
            </a:pPr>
            <a:r>
              <a:rPr lang="en-US" b="true" sz="2490">
                <a:solidFill>
                  <a:srgbClr val="FF66C4"/>
                </a:solidFill>
                <a:latin typeface="Montserrat Bold"/>
                <a:ea typeface="Montserrat Bold"/>
                <a:cs typeface="Montserrat Bold"/>
                <a:sym typeface="Montserrat Bold"/>
              </a:rPr>
              <a:t>If a region contains one or more points, create a child node, storing in it the corresponding sub-region.</a:t>
            </a:r>
          </a:p>
          <a:p>
            <a:pPr algn="just" marL="537753" indent="-268876" lvl="1">
              <a:lnSpc>
                <a:spcPts val="3138"/>
              </a:lnSpc>
              <a:buAutoNum type="arabicPeriod" startAt="1"/>
            </a:pPr>
            <a:r>
              <a:rPr lang="en-US" b="true" sz="2490">
                <a:solidFill>
                  <a:srgbClr val="FF66C4"/>
                </a:solidFill>
                <a:latin typeface="Montserrat Bold"/>
                <a:ea typeface="Montserrat Bold"/>
                <a:cs typeface="Montserrat Bold"/>
                <a:sym typeface="Montserrat Bold"/>
              </a:rPr>
              <a:t>If a region does not contain any points, do not create a child node.</a:t>
            </a:r>
          </a:p>
          <a:p>
            <a:pPr algn="just">
              <a:lnSpc>
                <a:spcPts val="3138"/>
              </a:lnSpc>
            </a:pPr>
          </a:p>
        </p:txBody>
      </p:sp>
      <p:sp>
        <p:nvSpPr>
          <p:cNvPr name="TextBox 21" id="21"/>
          <p:cNvSpPr txBox="true"/>
          <p:nvPr/>
        </p:nvSpPr>
        <p:spPr>
          <a:xfrm rot="0">
            <a:off x="9450365" y="2586083"/>
            <a:ext cx="2356516" cy="390611"/>
          </a:xfrm>
          <a:prstGeom prst="rect">
            <a:avLst/>
          </a:prstGeom>
        </p:spPr>
        <p:txBody>
          <a:bodyPr anchor="t" rtlCol="false" tIns="0" lIns="0" bIns="0" rIns="0">
            <a:spAutoFit/>
          </a:bodyPr>
          <a:lstStyle/>
          <a:p>
            <a:pPr algn="l">
              <a:lnSpc>
                <a:spcPts val="3151"/>
              </a:lnSpc>
            </a:pPr>
            <a:r>
              <a:rPr lang="en-US" sz="2501" b="true">
                <a:solidFill>
                  <a:srgbClr val="FFFFFF"/>
                </a:solidFill>
                <a:latin typeface="Montserrat Bold"/>
                <a:ea typeface="Montserrat Bold"/>
                <a:cs typeface="Montserrat Bold"/>
                <a:sym typeface="Montserrat Bold"/>
              </a:rPr>
              <a:t>QUICK START</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5316558" y="459799"/>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87293" y="93345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1" id="11"/>
          <p:cNvGrpSpPr/>
          <p:nvPr/>
        </p:nvGrpSpPr>
        <p:grpSpPr>
          <a:xfrm rot="0">
            <a:off x="8529838" y="2127224"/>
            <a:ext cx="1318118" cy="13181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4" id="14"/>
          <p:cNvGrpSpPr/>
          <p:nvPr/>
        </p:nvGrpSpPr>
        <p:grpSpPr>
          <a:xfrm rot="0">
            <a:off x="16249325" y="7201727"/>
            <a:ext cx="1318118" cy="131811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7" id="17"/>
          <p:cNvSpPr/>
          <p:nvPr/>
        </p:nvSpPr>
        <p:spPr>
          <a:xfrm flipH="false" flipV="false" rot="0">
            <a:off x="9365453" y="4268407"/>
            <a:ext cx="8577818" cy="5793942"/>
          </a:xfrm>
          <a:custGeom>
            <a:avLst/>
            <a:gdLst/>
            <a:ahLst/>
            <a:cxnLst/>
            <a:rect r="r" b="b" t="t" l="l"/>
            <a:pathLst>
              <a:path h="5793942" w="8577818">
                <a:moveTo>
                  <a:pt x="0" y="0"/>
                </a:moveTo>
                <a:lnTo>
                  <a:pt x="8577818" y="0"/>
                </a:lnTo>
                <a:lnTo>
                  <a:pt x="8577818" y="5793941"/>
                </a:lnTo>
                <a:lnTo>
                  <a:pt x="0" y="5793941"/>
                </a:lnTo>
                <a:lnTo>
                  <a:pt x="0" y="0"/>
                </a:lnTo>
                <a:close/>
              </a:path>
            </a:pathLst>
          </a:custGeom>
          <a:blipFill>
            <a:blip r:embed="rId4"/>
            <a:stretch>
              <a:fillRect l="0" t="0" r="-4116" b="0"/>
            </a:stretch>
          </a:blipFill>
          <a:ln w="47625"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Freeform 18" id="18"/>
          <p:cNvSpPr/>
          <p:nvPr/>
        </p:nvSpPr>
        <p:spPr>
          <a:xfrm flipH="false" flipV="false" rot="0">
            <a:off x="9365453" y="1614794"/>
            <a:ext cx="8577818" cy="1956682"/>
          </a:xfrm>
          <a:custGeom>
            <a:avLst/>
            <a:gdLst/>
            <a:ahLst/>
            <a:cxnLst/>
            <a:rect r="r" b="b" t="t" l="l"/>
            <a:pathLst>
              <a:path h="1956682" w="8577818">
                <a:moveTo>
                  <a:pt x="0" y="0"/>
                </a:moveTo>
                <a:lnTo>
                  <a:pt x="8577818" y="0"/>
                </a:lnTo>
                <a:lnTo>
                  <a:pt x="8577818" y="1956683"/>
                </a:lnTo>
                <a:lnTo>
                  <a:pt x="0" y="1956683"/>
                </a:lnTo>
                <a:lnTo>
                  <a:pt x="0" y="0"/>
                </a:lnTo>
                <a:close/>
              </a:path>
            </a:pathLst>
          </a:custGeom>
          <a:blipFill>
            <a:blip r:embed="rId5"/>
            <a:stretch>
              <a:fillRect l="0" t="-7279" r="-31749" b="-16176"/>
            </a:stretch>
          </a:blipFill>
          <a:ln w="66675"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TextBox 19" id="19"/>
          <p:cNvSpPr txBox="true"/>
          <p:nvPr/>
        </p:nvSpPr>
        <p:spPr>
          <a:xfrm rot="0">
            <a:off x="1194620" y="402649"/>
            <a:ext cx="2521526"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20" id="20"/>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05</a:t>
            </a:r>
          </a:p>
        </p:txBody>
      </p:sp>
      <p:sp>
        <p:nvSpPr>
          <p:cNvPr name="TextBox 21" id="21"/>
          <p:cNvSpPr txBox="true"/>
          <p:nvPr/>
        </p:nvSpPr>
        <p:spPr>
          <a:xfrm rot="0">
            <a:off x="1194620" y="1842287"/>
            <a:ext cx="7111220" cy="750849"/>
          </a:xfrm>
          <a:prstGeom prst="rect">
            <a:avLst/>
          </a:prstGeom>
        </p:spPr>
        <p:txBody>
          <a:bodyPr anchor="t" rtlCol="false" tIns="0" lIns="0" bIns="0" rIns="0">
            <a:spAutoFit/>
          </a:bodyPr>
          <a:lstStyle/>
          <a:p>
            <a:pPr algn="l">
              <a:lnSpc>
                <a:spcPts val="5452"/>
              </a:lnSpc>
            </a:pPr>
            <a:r>
              <a:rPr lang="en-US" sz="6126" b="true">
                <a:solidFill>
                  <a:srgbClr val="3E67C8"/>
                </a:solidFill>
                <a:latin typeface="Montserrat Ultra-Bold"/>
                <a:ea typeface="Montserrat Ultra-Bold"/>
                <a:cs typeface="Montserrat Ultra-Bold"/>
                <a:sym typeface="Montserrat Ultra-Bold"/>
              </a:rPr>
              <a:t>Implementation</a:t>
            </a:r>
          </a:p>
        </p:txBody>
      </p:sp>
      <p:sp>
        <p:nvSpPr>
          <p:cNvPr name="TextBox 22" id="22"/>
          <p:cNvSpPr txBox="true"/>
          <p:nvPr/>
        </p:nvSpPr>
        <p:spPr>
          <a:xfrm rot="0">
            <a:off x="1194620" y="2812211"/>
            <a:ext cx="7212061" cy="4800191"/>
          </a:xfrm>
          <a:prstGeom prst="rect">
            <a:avLst/>
          </a:prstGeom>
        </p:spPr>
        <p:txBody>
          <a:bodyPr anchor="t" rtlCol="false" tIns="0" lIns="0" bIns="0" rIns="0">
            <a:spAutoFit/>
          </a:bodyPr>
          <a:lstStyle/>
          <a:p>
            <a:pPr algn="just">
              <a:lnSpc>
                <a:spcPts val="3217"/>
              </a:lnSpc>
            </a:pPr>
            <a:r>
              <a:rPr lang="en-US" sz="2553" b="true">
                <a:solidFill>
                  <a:srgbClr val="3E67C8"/>
                </a:solidFill>
                <a:latin typeface="Montserrat Bold"/>
                <a:ea typeface="Montserrat Bold"/>
                <a:cs typeface="Montserrat Bold"/>
                <a:sym typeface="Montserrat Bold"/>
              </a:rPr>
              <a:t>We are now ready to define the structure of a Quad Tree:</a:t>
            </a:r>
          </a:p>
          <a:p>
            <a:pPr algn="just" marL="551335" indent="-275668" lvl="1">
              <a:lnSpc>
                <a:spcPts val="3217"/>
              </a:lnSpc>
              <a:buFont typeface="Arial"/>
              <a:buChar char="•"/>
            </a:pPr>
            <a:r>
              <a:rPr lang="en-US" b="true" sz="2553">
                <a:solidFill>
                  <a:srgbClr val="3E67C8"/>
                </a:solidFill>
                <a:latin typeface="Montserrat Bold"/>
                <a:ea typeface="Montserrat Bold"/>
                <a:cs typeface="Montserrat Bold"/>
                <a:sym typeface="Montserrat Bold"/>
              </a:rPr>
              <a:t>Each node manages a rectangular region of space and stores a set of points within that region.</a:t>
            </a:r>
          </a:p>
          <a:p>
            <a:pPr algn="just" marL="551335" indent="-275668" lvl="1">
              <a:lnSpc>
                <a:spcPts val="3217"/>
              </a:lnSpc>
              <a:buFont typeface="Arial"/>
              <a:buChar char="•"/>
            </a:pPr>
            <a:r>
              <a:rPr lang="en-US" b="true" sz="2553">
                <a:solidFill>
                  <a:srgbClr val="3E67C8"/>
                </a:solidFill>
                <a:latin typeface="Montserrat Bold"/>
                <a:ea typeface="Montserrat Bold"/>
                <a:cs typeface="Montserrat Bold"/>
                <a:sym typeface="Montserrat Bold"/>
              </a:rPr>
              <a:t>The root node covers the entire space from (1,1) to (N,M).</a:t>
            </a:r>
          </a:p>
          <a:p>
            <a:pPr algn="just" marL="551335" indent="-275668" lvl="1">
              <a:lnSpc>
                <a:spcPts val="3217"/>
              </a:lnSpc>
              <a:buFont typeface="Arial"/>
              <a:buChar char="•"/>
            </a:pPr>
            <a:r>
              <a:rPr lang="en-US" b="true" sz="2553">
                <a:solidFill>
                  <a:srgbClr val="3E67C8"/>
                </a:solidFill>
                <a:latin typeface="Montserrat Bold"/>
                <a:ea typeface="Montserrat Bold"/>
                <a:cs typeface="Montserrat Bold"/>
                <a:sym typeface="Montserrat Bold"/>
              </a:rPr>
              <a:t>Once a node is subdivided, it no longer directly stores points; instead, the points are pushed down into the appropriate child nodes.</a:t>
            </a:r>
          </a:p>
          <a:p>
            <a:pPr algn="just" marL="551335" indent="-275668" lvl="1">
              <a:lnSpc>
                <a:spcPts val="3217"/>
              </a:lnSpc>
              <a:buFont typeface="Arial"/>
              <a:buChar char="•"/>
            </a:pPr>
            <a:r>
              <a:rPr lang="en-US" b="true" sz="2553">
                <a:solidFill>
                  <a:srgbClr val="3E67C8"/>
                </a:solidFill>
                <a:latin typeface="Montserrat Bold"/>
                <a:ea typeface="Montserrat Bold"/>
                <a:cs typeface="Montserrat Bold"/>
                <a:sym typeface="Montserrat Bold"/>
              </a:rPr>
              <a:t>TIme complexity: O(log N + log M)</a:t>
            </a:r>
          </a:p>
        </p:txBody>
      </p:sp>
      <p:sp>
        <p:nvSpPr>
          <p:cNvPr name="TextBox 23" id="23"/>
          <p:cNvSpPr txBox="true"/>
          <p:nvPr/>
        </p:nvSpPr>
        <p:spPr>
          <a:xfrm rot="0">
            <a:off x="9962376" y="1167054"/>
            <a:ext cx="7111220" cy="451590"/>
          </a:xfrm>
          <a:prstGeom prst="rect">
            <a:avLst/>
          </a:prstGeom>
        </p:spPr>
        <p:txBody>
          <a:bodyPr anchor="t" rtlCol="false" tIns="0" lIns="0" bIns="0" rIns="0">
            <a:spAutoFit/>
          </a:bodyPr>
          <a:lstStyle/>
          <a:p>
            <a:pPr algn="ctr">
              <a:lnSpc>
                <a:spcPts val="3459"/>
              </a:lnSpc>
              <a:spcBef>
                <a:spcPct val="0"/>
              </a:spcBef>
            </a:pPr>
            <a:r>
              <a:rPr lang="en-US" b="true" sz="2470">
                <a:solidFill>
                  <a:srgbClr val="000000"/>
                </a:solidFill>
                <a:latin typeface="Poppins Medium"/>
                <a:ea typeface="Poppins Medium"/>
                <a:cs typeface="Poppins Medium"/>
                <a:sym typeface="Poppins Medium"/>
              </a:rPr>
              <a:t>A simple 2D point</a:t>
            </a:r>
          </a:p>
        </p:txBody>
      </p:sp>
      <p:sp>
        <p:nvSpPr>
          <p:cNvPr name="TextBox 24" id="24"/>
          <p:cNvSpPr txBox="true"/>
          <p:nvPr/>
        </p:nvSpPr>
        <p:spPr>
          <a:xfrm rot="0">
            <a:off x="12174787" y="3656047"/>
            <a:ext cx="2959150" cy="451590"/>
          </a:xfrm>
          <a:prstGeom prst="rect">
            <a:avLst/>
          </a:prstGeom>
        </p:spPr>
        <p:txBody>
          <a:bodyPr anchor="t" rtlCol="false" tIns="0" lIns="0" bIns="0" rIns="0">
            <a:spAutoFit/>
          </a:bodyPr>
          <a:lstStyle/>
          <a:p>
            <a:pPr algn="ctr">
              <a:lnSpc>
                <a:spcPts val="3459"/>
              </a:lnSpc>
              <a:spcBef>
                <a:spcPct val="0"/>
              </a:spcBef>
            </a:pPr>
            <a:r>
              <a:rPr lang="en-US" b="true" sz="2470">
                <a:solidFill>
                  <a:srgbClr val="000000"/>
                </a:solidFill>
                <a:latin typeface="Poppins Medium"/>
                <a:ea typeface="Poppins Medium"/>
                <a:cs typeface="Poppins Medium"/>
                <a:sym typeface="Poppins Medium"/>
              </a:rPr>
              <a:t>A Rectangle space</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5316558" y="459799"/>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550598" y="77152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1" id="11"/>
          <p:cNvGrpSpPr/>
          <p:nvPr/>
        </p:nvGrpSpPr>
        <p:grpSpPr>
          <a:xfrm rot="0">
            <a:off x="648354" y="6646885"/>
            <a:ext cx="1318118" cy="13181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4" id="14"/>
          <p:cNvGrpSpPr/>
          <p:nvPr/>
        </p:nvGrpSpPr>
        <p:grpSpPr>
          <a:xfrm rot="0">
            <a:off x="8252816" y="7563163"/>
            <a:ext cx="1318118" cy="131811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7" id="17"/>
          <p:cNvSpPr/>
          <p:nvPr/>
        </p:nvSpPr>
        <p:spPr>
          <a:xfrm flipH="false" flipV="false" rot="0">
            <a:off x="1131315" y="2921803"/>
            <a:ext cx="8323289" cy="5189635"/>
          </a:xfrm>
          <a:custGeom>
            <a:avLst/>
            <a:gdLst/>
            <a:ahLst/>
            <a:cxnLst/>
            <a:rect r="r" b="b" t="t" l="l"/>
            <a:pathLst>
              <a:path h="5189635" w="8323289">
                <a:moveTo>
                  <a:pt x="0" y="0"/>
                </a:moveTo>
                <a:lnTo>
                  <a:pt x="8323289" y="0"/>
                </a:lnTo>
                <a:lnTo>
                  <a:pt x="8323289" y="5189635"/>
                </a:lnTo>
                <a:lnTo>
                  <a:pt x="0" y="5189635"/>
                </a:lnTo>
                <a:lnTo>
                  <a:pt x="0" y="0"/>
                </a:lnTo>
                <a:close/>
              </a:path>
            </a:pathLst>
          </a:custGeom>
          <a:blipFill>
            <a:blip r:embed="rId4"/>
            <a:stretch>
              <a:fillRect l="-2257" t="0" r="-3646" b="0"/>
            </a:stretch>
          </a:blipFill>
          <a:ln w="85725"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Freeform 18" id="18"/>
          <p:cNvSpPr/>
          <p:nvPr/>
        </p:nvSpPr>
        <p:spPr>
          <a:xfrm flipH="false" flipV="false" rot="0">
            <a:off x="10547088" y="1875041"/>
            <a:ext cx="6820776" cy="3637131"/>
          </a:xfrm>
          <a:custGeom>
            <a:avLst/>
            <a:gdLst/>
            <a:ahLst/>
            <a:cxnLst/>
            <a:rect r="r" b="b" t="t" l="l"/>
            <a:pathLst>
              <a:path h="3637131" w="6820776">
                <a:moveTo>
                  <a:pt x="0" y="0"/>
                </a:moveTo>
                <a:lnTo>
                  <a:pt x="6820776" y="0"/>
                </a:lnTo>
                <a:lnTo>
                  <a:pt x="6820776" y="3637131"/>
                </a:lnTo>
                <a:lnTo>
                  <a:pt x="0" y="3637131"/>
                </a:lnTo>
                <a:lnTo>
                  <a:pt x="0" y="0"/>
                </a:lnTo>
                <a:close/>
              </a:path>
            </a:pathLst>
          </a:custGeom>
          <a:blipFill>
            <a:blip r:embed="rId5"/>
            <a:stretch>
              <a:fillRect l="0" t="0" r="-4301" b="0"/>
            </a:stretch>
          </a:blipFill>
          <a:ln w="114300"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Freeform 19" id="19"/>
          <p:cNvSpPr/>
          <p:nvPr/>
        </p:nvSpPr>
        <p:spPr>
          <a:xfrm flipH="false" flipV="false" rot="0">
            <a:off x="9570934" y="5693147"/>
            <a:ext cx="8543353" cy="4241552"/>
          </a:xfrm>
          <a:custGeom>
            <a:avLst/>
            <a:gdLst/>
            <a:ahLst/>
            <a:cxnLst/>
            <a:rect r="r" b="b" t="t" l="l"/>
            <a:pathLst>
              <a:path h="4241552" w="8543353">
                <a:moveTo>
                  <a:pt x="0" y="0"/>
                </a:moveTo>
                <a:lnTo>
                  <a:pt x="8543353" y="0"/>
                </a:lnTo>
                <a:lnTo>
                  <a:pt x="8543353" y="4241552"/>
                </a:lnTo>
                <a:lnTo>
                  <a:pt x="0" y="4241552"/>
                </a:lnTo>
                <a:lnTo>
                  <a:pt x="0" y="0"/>
                </a:lnTo>
                <a:close/>
              </a:path>
            </a:pathLst>
          </a:custGeom>
          <a:blipFill>
            <a:blip r:embed="rId6"/>
            <a:stretch>
              <a:fillRect l="0" t="0" r="0" b="0"/>
            </a:stretch>
          </a:blipFill>
        </p:spPr>
      </p:sp>
      <p:sp>
        <p:nvSpPr>
          <p:cNvPr name="TextBox 20" id="20"/>
          <p:cNvSpPr txBox="true"/>
          <p:nvPr/>
        </p:nvSpPr>
        <p:spPr>
          <a:xfrm rot="0">
            <a:off x="1194620" y="264420"/>
            <a:ext cx="2521526"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21" id="21"/>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06</a:t>
            </a:r>
          </a:p>
        </p:txBody>
      </p:sp>
      <p:sp>
        <p:nvSpPr>
          <p:cNvPr name="TextBox 22" id="22"/>
          <p:cNvSpPr txBox="true"/>
          <p:nvPr/>
        </p:nvSpPr>
        <p:spPr>
          <a:xfrm rot="0">
            <a:off x="1194620" y="884537"/>
            <a:ext cx="7111220" cy="750849"/>
          </a:xfrm>
          <a:prstGeom prst="rect">
            <a:avLst/>
          </a:prstGeom>
        </p:spPr>
        <p:txBody>
          <a:bodyPr anchor="t" rtlCol="false" tIns="0" lIns="0" bIns="0" rIns="0">
            <a:spAutoFit/>
          </a:bodyPr>
          <a:lstStyle/>
          <a:p>
            <a:pPr algn="l">
              <a:lnSpc>
                <a:spcPts val="5452"/>
              </a:lnSpc>
            </a:pPr>
            <a:r>
              <a:rPr lang="en-US" sz="6126" b="true">
                <a:solidFill>
                  <a:srgbClr val="3E67C8"/>
                </a:solidFill>
                <a:latin typeface="Montserrat Ultra-Bold"/>
                <a:ea typeface="Montserrat Ultra-Bold"/>
                <a:cs typeface="Montserrat Ultra-Bold"/>
                <a:sym typeface="Montserrat Ultra-Bold"/>
              </a:rPr>
              <a:t>Implementation</a:t>
            </a:r>
          </a:p>
        </p:txBody>
      </p:sp>
      <p:sp>
        <p:nvSpPr>
          <p:cNvPr name="TextBox 23" id="23"/>
          <p:cNvSpPr txBox="true"/>
          <p:nvPr/>
        </p:nvSpPr>
        <p:spPr>
          <a:xfrm rot="0">
            <a:off x="525281" y="2470213"/>
            <a:ext cx="8323289" cy="451590"/>
          </a:xfrm>
          <a:prstGeom prst="rect">
            <a:avLst/>
          </a:prstGeom>
        </p:spPr>
        <p:txBody>
          <a:bodyPr anchor="t" rtlCol="false" tIns="0" lIns="0" bIns="0" rIns="0">
            <a:spAutoFit/>
          </a:bodyPr>
          <a:lstStyle/>
          <a:p>
            <a:pPr algn="ctr">
              <a:lnSpc>
                <a:spcPts val="3459"/>
              </a:lnSpc>
              <a:spcBef>
                <a:spcPct val="0"/>
              </a:spcBef>
            </a:pPr>
            <a:r>
              <a:rPr lang="en-US" b="true" sz="2470">
                <a:solidFill>
                  <a:srgbClr val="000000"/>
                </a:solidFill>
                <a:latin typeface="Poppins Medium"/>
                <a:ea typeface="Poppins Medium"/>
                <a:cs typeface="Poppins Medium"/>
                <a:sym typeface="Poppins Medium"/>
              </a:rPr>
              <a:t> Quad Tree</a:t>
            </a:r>
          </a:p>
        </p:txBody>
      </p:sp>
      <p:sp>
        <p:nvSpPr>
          <p:cNvPr name="TextBox 24" id="24"/>
          <p:cNvSpPr txBox="true"/>
          <p:nvPr/>
        </p:nvSpPr>
        <p:spPr>
          <a:xfrm rot="0">
            <a:off x="10547088" y="1347251"/>
            <a:ext cx="6820776" cy="451590"/>
          </a:xfrm>
          <a:prstGeom prst="rect">
            <a:avLst/>
          </a:prstGeom>
        </p:spPr>
        <p:txBody>
          <a:bodyPr anchor="t" rtlCol="false" tIns="0" lIns="0" bIns="0" rIns="0">
            <a:spAutoFit/>
          </a:bodyPr>
          <a:lstStyle/>
          <a:p>
            <a:pPr algn="ctr">
              <a:lnSpc>
                <a:spcPts val="3459"/>
              </a:lnSpc>
              <a:spcBef>
                <a:spcPct val="0"/>
              </a:spcBef>
            </a:pPr>
            <a:r>
              <a:rPr lang="en-US" b="true" sz="2470">
                <a:solidFill>
                  <a:srgbClr val="000000"/>
                </a:solidFill>
                <a:latin typeface="Poppins Medium"/>
                <a:ea typeface="Poppins Medium"/>
                <a:cs typeface="Poppins Medium"/>
                <a:sym typeface="Poppins Medium"/>
              </a:rPr>
              <a:t>Subdivide() to split quadtree into 4.</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5316558" y="459799"/>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550598" y="77152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1" id="11"/>
          <p:cNvGrpSpPr/>
          <p:nvPr/>
        </p:nvGrpSpPr>
        <p:grpSpPr>
          <a:xfrm rot="0">
            <a:off x="648354" y="6646885"/>
            <a:ext cx="1318118" cy="131811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4" id="14"/>
          <p:cNvGrpSpPr/>
          <p:nvPr/>
        </p:nvGrpSpPr>
        <p:grpSpPr>
          <a:xfrm rot="0">
            <a:off x="16249325" y="8445248"/>
            <a:ext cx="1318118" cy="131811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7" id="17"/>
          <p:cNvSpPr/>
          <p:nvPr/>
        </p:nvSpPr>
        <p:spPr>
          <a:xfrm flipH="false" flipV="false" rot="0">
            <a:off x="1194620" y="1927855"/>
            <a:ext cx="7730469" cy="7330445"/>
          </a:xfrm>
          <a:custGeom>
            <a:avLst/>
            <a:gdLst/>
            <a:ahLst/>
            <a:cxnLst/>
            <a:rect r="r" b="b" t="t" l="l"/>
            <a:pathLst>
              <a:path h="7330445" w="7730469">
                <a:moveTo>
                  <a:pt x="0" y="0"/>
                </a:moveTo>
                <a:lnTo>
                  <a:pt x="7730469" y="0"/>
                </a:lnTo>
                <a:lnTo>
                  <a:pt x="7730469" y="7330445"/>
                </a:lnTo>
                <a:lnTo>
                  <a:pt x="0" y="7330445"/>
                </a:lnTo>
                <a:lnTo>
                  <a:pt x="0" y="0"/>
                </a:lnTo>
                <a:close/>
              </a:path>
            </a:pathLst>
          </a:custGeom>
          <a:blipFill>
            <a:blip r:embed="rId4"/>
            <a:stretch>
              <a:fillRect l="0" t="0" r="0" b="0"/>
            </a:stretch>
          </a:blipFill>
          <a:ln w="57150"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Freeform 18" id="18"/>
          <p:cNvSpPr/>
          <p:nvPr/>
        </p:nvSpPr>
        <p:spPr>
          <a:xfrm flipH="false" flipV="false" rot="0">
            <a:off x="9614522" y="2910659"/>
            <a:ext cx="8423443" cy="5458388"/>
          </a:xfrm>
          <a:custGeom>
            <a:avLst/>
            <a:gdLst/>
            <a:ahLst/>
            <a:cxnLst/>
            <a:rect r="r" b="b" t="t" l="l"/>
            <a:pathLst>
              <a:path h="5458388" w="8423443">
                <a:moveTo>
                  <a:pt x="0" y="0"/>
                </a:moveTo>
                <a:lnTo>
                  <a:pt x="8423442" y="0"/>
                </a:lnTo>
                <a:lnTo>
                  <a:pt x="8423442" y="5458389"/>
                </a:lnTo>
                <a:lnTo>
                  <a:pt x="0" y="5458389"/>
                </a:lnTo>
                <a:lnTo>
                  <a:pt x="0" y="0"/>
                </a:lnTo>
                <a:close/>
              </a:path>
            </a:pathLst>
          </a:custGeom>
          <a:blipFill>
            <a:blip r:embed="rId5"/>
            <a:stretch>
              <a:fillRect l="0" t="0" r="-4727" b="0"/>
            </a:stretch>
          </a:blipFill>
          <a:ln w="57150"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TextBox 19" id="19"/>
          <p:cNvSpPr txBox="true"/>
          <p:nvPr/>
        </p:nvSpPr>
        <p:spPr>
          <a:xfrm rot="0">
            <a:off x="1194620" y="264420"/>
            <a:ext cx="3391971"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20" id="20"/>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07</a:t>
            </a:r>
          </a:p>
        </p:txBody>
      </p:sp>
      <p:sp>
        <p:nvSpPr>
          <p:cNvPr name="TextBox 21" id="21"/>
          <p:cNvSpPr txBox="true"/>
          <p:nvPr/>
        </p:nvSpPr>
        <p:spPr>
          <a:xfrm rot="0">
            <a:off x="1194620" y="815929"/>
            <a:ext cx="7111220" cy="750849"/>
          </a:xfrm>
          <a:prstGeom prst="rect">
            <a:avLst/>
          </a:prstGeom>
        </p:spPr>
        <p:txBody>
          <a:bodyPr anchor="t" rtlCol="false" tIns="0" lIns="0" bIns="0" rIns="0">
            <a:spAutoFit/>
          </a:bodyPr>
          <a:lstStyle/>
          <a:p>
            <a:pPr algn="l">
              <a:lnSpc>
                <a:spcPts val="5452"/>
              </a:lnSpc>
            </a:pPr>
            <a:r>
              <a:rPr lang="en-US" sz="6126" b="true">
                <a:solidFill>
                  <a:srgbClr val="3E67C8"/>
                </a:solidFill>
                <a:latin typeface="Montserrat Ultra-Bold"/>
                <a:ea typeface="Montserrat Ultra-Bold"/>
                <a:cs typeface="Montserrat Ultra-Bold"/>
                <a:sym typeface="Montserrat Ultra-Bold"/>
              </a:rPr>
              <a:t>Implementation</a:t>
            </a:r>
          </a:p>
        </p:txBody>
      </p:sp>
      <p:sp>
        <p:nvSpPr>
          <p:cNvPr name="TextBox 22" id="22"/>
          <p:cNvSpPr txBox="true"/>
          <p:nvPr/>
        </p:nvSpPr>
        <p:spPr>
          <a:xfrm rot="0">
            <a:off x="588586" y="1476265"/>
            <a:ext cx="8323289" cy="451590"/>
          </a:xfrm>
          <a:prstGeom prst="rect">
            <a:avLst/>
          </a:prstGeom>
        </p:spPr>
        <p:txBody>
          <a:bodyPr anchor="t" rtlCol="false" tIns="0" lIns="0" bIns="0" rIns="0">
            <a:spAutoFit/>
          </a:bodyPr>
          <a:lstStyle/>
          <a:p>
            <a:pPr algn="ctr">
              <a:lnSpc>
                <a:spcPts val="3459"/>
              </a:lnSpc>
              <a:spcBef>
                <a:spcPct val="0"/>
              </a:spcBef>
            </a:pPr>
            <a:r>
              <a:rPr lang="en-US" b="true" sz="2470">
                <a:solidFill>
                  <a:srgbClr val="000000"/>
                </a:solidFill>
                <a:latin typeface="Poppins Medium"/>
                <a:ea typeface="Poppins Medium"/>
                <a:cs typeface="Poppins Medium"/>
                <a:sym typeface="Poppins Medium"/>
              </a:rPr>
              <a:t> Insert(Point) to add a point to the quadtree</a:t>
            </a:r>
          </a:p>
        </p:txBody>
      </p:sp>
      <p:sp>
        <p:nvSpPr>
          <p:cNvPr name="TextBox 23" id="23"/>
          <p:cNvSpPr txBox="true"/>
          <p:nvPr/>
        </p:nvSpPr>
        <p:spPr>
          <a:xfrm rot="0">
            <a:off x="10547088" y="2001870"/>
            <a:ext cx="6820776" cy="889740"/>
          </a:xfrm>
          <a:prstGeom prst="rect">
            <a:avLst/>
          </a:prstGeom>
        </p:spPr>
        <p:txBody>
          <a:bodyPr anchor="t" rtlCol="false" tIns="0" lIns="0" bIns="0" rIns="0">
            <a:spAutoFit/>
          </a:bodyPr>
          <a:lstStyle/>
          <a:p>
            <a:pPr algn="ctr">
              <a:lnSpc>
                <a:spcPts val="3459"/>
              </a:lnSpc>
              <a:spcBef>
                <a:spcPct val="0"/>
              </a:spcBef>
            </a:pPr>
            <a:r>
              <a:rPr lang="en-US" b="true" sz="2470">
                <a:solidFill>
                  <a:srgbClr val="000000"/>
                </a:solidFill>
                <a:latin typeface="Poppins Medium"/>
                <a:ea typeface="Poppins Medium"/>
                <a:cs typeface="Poppins Medium"/>
                <a:sym typeface="Poppins Medium"/>
              </a:rPr>
              <a:t>Q</a:t>
            </a:r>
            <a:r>
              <a:rPr lang="en-US" b="true" sz="2470">
                <a:solidFill>
                  <a:srgbClr val="000000"/>
                </a:solidFill>
                <a:latin typeface="Poppins Medium"/>
                <a:ea typeface="Poppins Medium"/>
                <a:cs typeface="Poppins Medium"/>
                <a:sym typeface="Poppins Medium"/>
              </a:rPr>
              <a:t>uery(Range) returns the points within the search area.</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9" id="9"/>
          <p:cNvGrpSpPr/>
          <p:nvPr/>
        </p:nvGrpSpPr>
        <p:grpSpPr>
          <a:xfrm rot="0">
            <a:off x="7469063" y="2492827"/>
            <a:ext cx="1308590" cy="130859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AutoShape 12" id="12"/>
          <p:cNvSpPr/>
          <p:nvPr/>
        </p:nvSpPr>
        <p:spPr>
          <a:xfrm>
            <a:off x="-725215" y="1258417"/>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3" id="13"/>
          <p:cNvGrpSpPr/>
          <p:nvPr/>
        </p:nvGrpSpPr>
        <p:grpSpPr>
          <a:xfrm rot="0">
            <a:off x="-3712198" y="1258417"/>
            <a:ext cx="9707907" cy="2745276"/>
            <a:chOff x="0" y="0"/>
            <a:chExt cx="2556815" cy="723036"/>
          </a:xfrm>
        </p:grpSpPr>
        <p:sp>
          <p:nvSpPr>
            <p:cNvPr name="Freeform 14" id="14"/>
            <p:cNvSpPr/>
            <p:nvPr/>
          </p:nvSpPr>
          <p:spPr>
            <a:xfrm flipH="false" flipV="false" rot="0">
              <a:off x="0" y="0"/>
              <a:ext cx="2556815" cy="723036"/>
            </a:xfrm>
            <a:custGeom>
              <a:avLst/>
              <a:gdLst/>
              <a:ahLst/>
              <a:cxnLst/>
              <a:rect r="r" b="b" t="t" l="l"/>
              <a:pathLst>
                <a:path h="723036" w="2556815">
                  <a:moveTo>
                    <a:pt x="0" y="0"/>
                  </a:moveTo>
                  <a:lnTo>
                    <a:pt x="2556815" y="0"/>
                  </a:lnTo>
                  <a:lnTo>
                    <a:pt x="2556815" y="723036"/>
                  </a:lnTo>
                  <a:lnTo>
                    <a:pt x="0" y="723036"/>
                  </a:lnTo>
                  <a:close/>
                </a:path>
              </a:pathLst>
            </a:custGeom>
            <a:gradFill rotWithShape="true">
              <a:gsLst>
                <a:gs pos="0">
                  <a:srgbClr val="FFFFFF">
                    <a:alpha val="100000"/>
                  </a:srgbClr>
                </a:gs>
                <a:gs pos="50000">
                  <a:srgbClr val="DBDBDB">
                    <a:alpha val="100000"/>
                  </a:srgbClr>
                </a:gs>
                <a:gs pos="100000">
                  <a:srgbClr val="DBDBDB">
                    <a:alpha val="0"/>
                  </a:srgbClr>
                </a:gs>
              </a:gsLst>
              <a:lin ang="0"/>
            </a:gradFill>
          </p:spPr>
        </p:sp>
        <p:sp>
          <p:nvSpPr>
            <p:cNvPr name="TextBox 15" id="15"/>
            <p:cNvSpPr txBox="true"/>
            <p:nvPr/>
          </p:nvSpPr>
          <p:spPr>
            <a:xfrm>
              <a:off x="0" y="-38100"/>
              <a:ext cx="2556815" cy="761136"/>
            </a:xfrm>
            <a:prstGeom prst="rect">
              <a:avLst/>
            </a:prstGeom>
          </p:spPr>
          <p:txBody>
            <a:bodyPr anchor="ctr" rtlCol="false" tIns="50800" lIns="50800" bIns="50800" rIns="50800"/>
            <a:lstStyle/>
            <a:p>
              <a:pPr algn="ctr">
                <a:lnSpc>
                  <a:spcPts val="2199"/>
                </a:lnSpc>
              </a:pPr>
            </a:p>
          </p:txBody>
        </p:sp>
      </p:grpSp>
      <p:pic>
        <p:nvPicPr>
          <p:cNvPr name="Picture 16" id="16">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5774341" y="1674395"/>
            <a:ext cx="11247149" cy="7583905"/>
          </a:xfrm>
          <a:prstGeom prst="rect">
            <a:avLst/>
          </a:prstGeom>
        </p:spPr>
      </p:pic>
      <p:sp>
        <p:nvSpPr>
          <p:cNvPr name="TextBox 17" id="17"/>
          <p:cNvSpPr txBox="true"/>
          <p:nvPr/>
        </p:nvSpPr>
        <p:spPr>
          <a:xfrm rot="0">
            <a:off x="1141756" y="924809"/>
            <a:ext cx="348203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8" id="18"/>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08</a:t>
            </a:r>
          </a:p>
        </p:txBody>
      </p:sp>
      <p:sp>
        <p:nvSpPr>
          <p:cNvPr name="TextBox 19" id="19"/>
          <p:cNvSpPr txBox="true"/>
          <p:nvPr/>
        </p:nvSpPr>
        <p:spPr>
          <a:xfrm rot="0">
            <a:off x="308641" y="1493344"/>
            <a:ext cx="5538657" cy="2179939"/>
          </a:xfrm>
          <a:prstGeom prst="rect">
            <a:avLst/>
          </a:prstGeom>
        </p:spPr>
        <p:txBody>
          <a:bodyPr anchor="t" rtlCol="false" tIns="0" lIns="0" bIns="0" rIns="0">
            <a:spAutoFit/>
          </a:bodyPr>
          <a:lstStyle/>
          <a:p>
            <a:pPr algn="l">
              <a:lnSpc>
                <a:spcPts val="5595"/>
              </a:lnSpc>
            </a:pPr>
            <a:r>
              <a:rPr lang="en-US" sz="6287" b="true">
                <a:solidFill>
                  <a:srgbClr val="3E67C8"/>
                </a:solidFill>
                <a:latin typeface="Montserrat Ultra-Bold"/>
                <a:ea typeface="Montserrat Ultra-Bold"/>
                <a:cs typeface="Montserrat Ultra-Bold"/>
                <a:sym typeface="Montserrat Ultra-Bold"/>
              </a:rPr>
              <a:t>Quadtree - Visualizer Demo</a:t>
            </a:r>
          </a:p>
        </p:txBody>
      </p:sp>
      <p:sp>
        <p:nvSpPr>
          <p:cNvPr name="TextBox 20" id="20"/>
          <p:cNvSpPr txBox="true"/>
          <p:nvPr/>
        </p:nvSpPr>
        <p:spPr>
          <a:xfrm rot="0">
            <a:off x="7938360" y="1255219"/>
            <a:ext cx="5919004" cy="432337"/>
          </a:xfrm>
          <a:prstGeom prst="rect">
            <a:avLst/>
          </a:prstGeom>
        </p:spPr>
        <p:txBody>
          <a:bodyPr anchor="t" rtlCol="false" tIns="0" lIns="0" bIns="0" rIns="0">
            <a:spAutoFit/>
          </a:bodyPr>
          <a:lstStyle/>
          <a:p>
            <a:pPr algn="l">
              <a:lnSpc>
                <a:spcPts val="3470"/>
              </a:lnSpc>
            </a:pPr>
            <a:r>
              <a:rPr lang="en-US" b="true" sz="2478" u="sng">
                <a:solidFill>
                  <a:srgbClr val="BE6E63"/>
                </a:solidFill>
                <a:latin typeface="Arimo Bold"/>
                <a:ea typeface="Arimo Bold"/>
                <a:cs typeface="Arimo Bold"/>
                <a:sym typeface="Arimo Bold"/>
                <a:hlinkClick r:id="rId6" tooltip="https://opendsa-server.cs.vt.edu/ODSA/Books/Everything/html/PRquadtree.html"/>
              </a:rPr>
              <a:t>Reference: Visualizer Demo Quad Tree</a:t>
            </a:r>
          </a:p>
        </p:txBody>
      </p:sp>
    </p:spTree>
  </p:cSld>
  <p:clrMapOvr>
    <a:masterClrMapping/>
  </p:clrMapOvr>
  <p:transition spd="slow">
    <p:push dir="l"/>
  </p:transition>
  <p:timing>
    <p:tnLst>
      <p:par>
        <p:cTn dur="indefinite" restart="never" nodeType="tmRoot">
          <p:childTnLst>
            <p:video>
              <p:cMediaNode vol="100000">
                <p:cTn fill="hold" display="false">
                  <p:stCondLst>
                    <p:cond delay="indefinite"/>
                  </p:stCondLst>
                </p:cTn>
                <p:tgtEl>
                  <p:spTgt spid="16"/>
                </p:tgtEl>
              </p:cMediaNode>
            </p:video>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50598" y="1717649"/>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0" id="10"/>
          <p:cNvGrpSpPr/>
          <p:nvPr/>
        </p:nvGrpSpPr>
        <p:grpSpPr>
          <a:xfrm rot="0">
            <a:off x="1360209" y="3248056"/>
            <a:ext cx="407555" cy="40755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041D57">
                    <a:alpha val="4950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3" id="13"/>
          <p:cNvGrpSpPr/>
          <p:nvPr/>
        </p:nvGrpSpPr>
        <p:grpSpPr>
          <a:xfrm rot="0">
            <a:off x="1928233" y="3151494"/>
            <a:ext cx="5504676" cy="600679"/>
            <a:chOff x="0" y="0"/>
            <a:chExt cx="1449791" cy="158203"/>
          </a:xfrm>
        </p:grpSpPr>
        <p:sp>
          <p:nvSpPr>
            <p:cNvPr name="Freeform 14" id="14"/>
            <p:cNvSpPr/>
            <p:nvPr/>
          </p:nvSpPr>
          <p:spPr>
            <a:xfrm flipH="false" flipV="false" rot="0">
              <a:off x="0" y="0"/>
              <a:ext cx="1449791" cy="158203"/>
            </a:xfrm>
            <a:custGeom>
              <a:avLst/>
              <a:gdLst/>
              <a:ahLst/>
              <a:cxnLst/>
              <a:rect r="r" b="b" t="t" l="l"/>
              <a:pathLst>
                <a:path h="158203" w="1449791">
                  <a:moveTo>
                    <a:pt x="0" y="0"/>
                  </a:moveTo>
                  <a:lnTo>
                    <a:pt x="1449791" y="0"/>
                  </a:lnTo>
                  <a:lnTo>
                    <a:pt x="1449791" y="158203"/>
                  </a:lnTo>
                  <a:lnTo>
                    <a:pt x="0" y="158203"/>
                  </a:lnTo>
                  <a:close/>
                </a:path>
              </a:pathLst>
            </a:custGeom>
            <a:gradFill rotWithShape="true">
              <a:gsLst>
                <a:gs pos="0">
                  <a:srgbClr val="006CCD">
                    <a:alpha val="100000"/>
                  </a:srgbClr>
                </a:gs>
                <a:gs pos="100000">
                  <a:srgbClr val="041D57">
                    <a:alpha val="100000"/>
                  </a:srgbClr>
                </a:gs>
              </a:gsLst>
              <a:lin ang="0"/>
            </a:gradFill>
          </p:spPr>
        </p:sp>
        <p:sp>
          <p:nvSpPr>
            <p:cNvPr name="TextBox 15" id="15"/>
            <p:cNvSpPr txBox="true"/>
            <p:nvPr/>
          </p:nvSpPr>
          <p:spPr>
            <a:xfrm>
              <a:off x="0" y="-38100"/>
              <a:ext cx="1449791" cy="196303"/>
            </a:xfrm>
            <a:prstGeom prst="rect">
              <a:avLst/>
            </a:prstGeom>
          </p:spPr>
          <p:txBody>
            <a:bodyPr anchor="ctr" rtlCol="false" tIns="50800" lIns="50800" bIns="50800" rIns="50800"/>
            <a:lstStyle/>
            <a:p>
              <a:pPr algn="ctr">
                <a:lnSpc>
                  <a:spcPts val="2199"/>
                </a:lnSpc>
              </a:pPr>
            </a:p>
          </p:txBody>
        </p:sp>
      </p:grpSp>
      <p:grpSp>
        <p:nvGrpSpPr>
          <p:cNvPr name="Group 16" id="16"/>
          <p:cNvGrpSpPr/>
          <p:nvPr/>
        </p:nvGrpSpPr>
        <p:grpSpPr>
          <a:xfrm rot="0">
            <a:off x="8388781" y="3248056"/>
            <a:ext cx="407555" cy="40755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041D57">
                    <a:alpha val="49500"/>
                  </a:srgbClr>
                </a:gs>
              </a:gsLst>
              <a:lin ang="0"/>
            </a:gra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9" id="19"/>
          <p:cNvGrpSpPr/>
          <p:nvPr/>
        </p:nvGrpSpPr>
        <p:grpSpPr>
          <a:xfrm rot="0">
            <a:off x="9144000" y="3142106"/>
            <a:ext cx="5248870" cy="600679"/>
            <a:chOff x="0" y="0"/>
            <a:chExt cx="1382418" cy="158203"/>
          </a:xfrm>
        </p:grpSpPr>
        <p:sp>
          <p:nvSpPr>
            <p:cNvPr name="Freeform 20" id="20"/>
            <p:cNvSpPr/>
            <p:nvPr/>
          </p:nvSpPr>
          <p:spPr>
            <a:xfrm flipH="false" flipV="false" rot="0">
              <a:off x="0" y="0"/>
              <a:ext cx="1382418" cy="158203"/>
            </a:xfrm>
            <a:custGeom>
              <a:avLst/>
              <a:gdLst/>
              <a:ahLst/>
              <a:cxnLst/>
              <a:rect r="r" b="b" t="t" l="l"/>
              <a:pathLst>
                <a:path h="158203" w="1382418">
                  <a:moveTo>
                    <a:pt x="0" y="0"/>
                  </a:moveTo>
                  <a:lnTo>
                    <a:pt x="1382418" y="0"/>
                  </a:lnTo>
                  <a:lnTo>
                    <a:pt x="1382418" y="158203"/>
                  </a:lnTo>
                  <a:lnTo>
                    <a:pt x="0" y="158203"/>
                  </a:lnTo>
                  <a:close/>
                </a:path>
              </a:pathLst>
            </a:custGeom>
            <a:gradFill rotWithShape="true">
              <a:gsLst>
                <a:gs pos="0">
                  <a:srgbClr val="006CCD">
                    <a:alpha val="100000"/>
                  </a:srgbClr>
                </a:gs>
                <a:gs pos="100000">
                  <a:srgbClr val="041D57">
                    <a:alpha val="100000"/>
                  </a:srgbClr>
                </a:gs>
              </a:gsLst>
              <a:lin ang="0"/>
            </a:gradFill>
          </p:spPr>
        </p:sp>
        <p:sp>
          <p:nvSpPr>
            <p:cNvPr name="TextBox 21" id="21"/>
            <p:cNvSpPr txBox="true"/>
            <p:nvPr/>
          </p:nvSpPr>
          <p:spPr>
            <a:xfrm>
              <a:off x="0" y="-38100"/>
              <a:ext cx="1382418" cy="196303"/>
            </a:xfrm>
            <a:prstGeom prst="rect">
              <a:avLst/>
            </a:prstGeom>
          </p:spPr>
          <p:txBody>
            <a:bodyPr anchor="ctr" rtlCol="false" tIns="50800" lIns="50800" bIns="50800" rIns="50800"/>
            <a:lstStyle/>
            <a:p>
              <a:pPr algn="ctr">
                <a:lnSpc>
                  <a:spcPts val="2199"/>
                </a:lnSpc>
              </a:pPr>
            </a:p>
          </p:txBody>
        </p:sp>
      </p:grpSp>
      <p:sp>
        <p:nvSpPr>
          <p:cNvPr name="TextBox 22" id="22"/>
          <p:cNvSpPr txBox="true"/>
          <p:nvPr/>
        </p:nvSpPr>
        <p:spPr>
          <a:xfrm rot="0">
            <a:off x="1132346" y="971550"/>
            <a:ext cx="3265149"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23" id="23"/>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09</a:t>
            </a:r>
          </a:p>
        </p:txBody>
      </p:sp>
      <p:sp>
        <p:nvSpPr>
          <p:cNvPr name="TextBox 24" id="24"/>
          <p:cNvSpPr txBox="true"/>
          <p:nvPr/>
        </p:nvSpPr>
        <p:spPr>
          <a:xfrm rot="0">
            <a:off x="1928233" y="3946054"/>
            <a:ext cx="5504676" cy="2137969"/>
          </a:xfrm>
          <a:prstGeom prst="rect">
            <a:avLst/>
          </a:prstGeom>
        </p:spPr>
        <p:txBody>
          <a:bodyPr anchor="t" rtlCol="false" tIns="0" lIns="0" bIns="0" rIns="0">
            <a:spAutoFit/>
          </a:bodyPr>
          <a:lstStyle/>
          <a:p>
            <a:pPr algn="just">
              <a:lnSpc>
                <a:spcPts val="2427"/>
              </a:lnSpc>
            </a:pPr>
            <a:r>
              <a:rPr lang="en-US" sz="1926" b="true">
                <a:solidFill>
                  <a:srgbClr val="006CCD"/>
                </a:solidFill>
                <a:latin typeface="Montserrat Bold"/>
                <a:ea typeface="Montserrat Bold"/>
                <a:cs typeface="Montserrat Bold"/>
                <a:sym typeface="Montserrat Bold"/>
              </a:rPr>
              <a:t>Constructing a quadtree involves inserting N points, where each insertion typically takes    time. </a:t>
            </a:r>
          </a:p>
          <a:p>
            <a:pPr algn="just">
              <a:lnSpc>
                <a:spcPts val="2427"/>
              </a:lnSpc>
            </a:pPr>
          </a:p>
          <a:p>
            <a:pPr algn="just">
              <a:lnSpc>
                <a:spcPts val="2427"/>
              </a:lnSpc>
            </a:pPr>
          </a:p>
          <a:p>
            <a:pPr algn="just">
              <a:lnSpc>
                <a:spcPts val="2427"/>
              </a:lnSpc>
            </a:pPr>
            <a:r>
              <a:rPr lang="en-US" b="true" sz="1926">
                <a:solidFill>
                  <a:srgbClr val="006CCD"/>
                </a:solidFill>
                <a:latin typeface="Montserrat Bold"/>
                <a:ea typeface="Montserrat Bold"/>
                <a:cs typeface="Montserrat Bold"/>
                <a:sym typeface="Montserrat Bold"/>
              </a:rPr>
              <a:t>Consequently, the overall time complexity for building a quadtree is: </a:t>
            </a:r>
          </a:p>
        </p:txBody>
      </p:sp>
      <p:sp>
        <p:nvSpPr>
          <p:cNvPr name="TextBox 25" id="25"/>
          <p:cNvSpPr txBox="true"/>
          <p:nvPr/>
        </p:nvSpPr>
        <p:spPr>
          <a:xfrm rot="0">
            <a:off x="3075014" y="3197135"/>
            <a:ext cx="3211114" cy="435854"/>
          </a:xfrm>
          <a:prstGeom prst="rect">
            <a:avLst/>
          </a:prstGeom>
        </p:spPr>
        <p:txBody>
          <a:bodyPr anchor="t" rtlCol="false" tIns="0" lIns="0" bIns="0" rIns="0">
            <a:spAutoFit/>
          </a:bodyPr>
          <a:lstStyle/>
          <a:p>
            <a:pPr algn="l">
              <a:lnSpc>
                <a:spcPts val="3529"/>
              </a:lnSpc>
            </a:pPr>
            <a:r>
              <a:rPr lang="en-US" sz="2801" b="true">
                <a:solidFill>
                  <a:srgbClr val="FFFFFF"/>
                </a:solidFill>
                <a:latin typeface="Montserrat Bold"/>
                <a:ea typeface="Montserrat Bold"/>
                <a:cs typeface="Montserrat Bold"/>
                <a:sym typeface="Montserrat Bold"/>
              </a:rPr>
              <a:t>Time Complexity</a:t>
            </a:r>
          </a:p>
        </p:txBody>
      </p:sp>
      <p:sp>
        <p:nvSpPr>
          <p:cNvPr name="TextBox 26" id="26"/>
          <p:cNvSpPr txBox="true"/>
          <p:nvPr/>
        </p:nvSpPr>
        <p:spPr>
          <a:xfrm rot="0">
            <a:off x="1132346" y="1926915"/>
            <a:ext cx="15950941" cy="731947"/>
          </a:xfrm>
          <a:prstGeom prst="rect">
            <a:avLst/>
          </a:prstGeom>
        </p:spPr>
        <p:txBody>
          <a:bodyPr anchor="t" rtlCol="false" tIns="0" lIns="0" bIns="0" rIns="0">
            <a:spAutoFit/>
          </a:bodyPr>
          <a:lstStyle/>
          <a:p>
            <a:pPr algn="l">
              <a:lnSpc>
                <a:spcPts val="5349"/>
              </a:lnSpc>
            </a:pPr>
            <a:r>
              <a:rPr lang="en-US" sz="6010" b="true">
                <a:solidFill>
                  <a:srgbClr val="3E67C8"/>
                </a:solidFill>
                <a:latin typeface="Montserrat Ultra-Bold"/>
                <a:ea typeface="Montserrat Ultra-Bold"/>
                <a:cs typeface="Montserrat Ultra-Bold"/>
                <a:sym typeface="Montserrat Ultra-Bold"/>
              </a:rPr>
              <a:t>Time complexity, space complexity</a:t>
            </a:r>
          </a:p>
        </p:txBody>
      </p:sp>
      <p:sp>
        <p:nvSpPr>
          <p:cNvPr name="TextBox 27" id="27"/>
          <p:cNvSpPr txBox="true"/>
          <p:nvPr/>
        </p:nvSpPr>
        <p:spPr>
          <a:xfrm rot="0">
            <a:off x="9144000" y="4539053"/>
            <a:ext cx="5561619" cy="993445"/>
          </a:xfrm>
          <a:prstGeom prst="rect">
            <a:avLst/>
          </a:prstGeom>
        </p:spPr>
        <p:txBody>
          <a:bodyPr anchor="t" rtlCol="false" tIns="0" lIns="0" bIns="0" rIns="0">
            <a:spAutoFit/>
          </a:bodyPr>
          <a:lstStyle/>
          <a:p>
            <a:pPr algn="l">
              <a:lnSpc>
                <a:spcPts val="2679"/>
              </a:lnSpc>
            </a:pPr>
            <a:r>
              <a:rPr lang="en-US" sz="2126" b="true">
                <a:solidFill>
                  <a:srgbClr val="006CCD"/>
                </a:solidFill>
                <a:latin typeface="Montserrat Bold"/>
                <a:ea typeface="Montserrat Bold"/>
                <a:cs typeface="Montserrat Bold"/>
                <a:sym typeface="Montserrat Bold"/>
              </a:rPr>
              <a:t>where the size of the region is NxM ( N ≥ M ). Assume the quadtree manages k points.</a:t>
            </a:r>
          </a:p>
        </p:txBody>
      </p:sp>
      <p:sp>
        <p:nvSpPr>
          <p:cNvPr name="TextBox 28" id="28"/>
          <p:cNvSpPr txBox="true"/>
          <p:nvPr/>
        </p:nvSpPr>
        <p:spPr>
          <a:xfrm rot="0">
            <a:off x="10204044" y="3264999"/>
            <a:ext cx="3128782" cy="390611"/>
          </a:xfrm>
          <a:prstGeom prst="rect">
            <a:avLst/>
          </a:prstGeom>
        </p:spPr>
        <p:txBody>
          <a:bodyPr anchor="t" rtlCol="false" tIns="0" lIns="0" bIns="0" rIns="0">
            <a:spAutoFit/>
          </a:bodyPr>
          <a:lstStyle/>
          <a:p>
            <a:pPr algn="l">
              <a:lnSpc>
                <a:spcPts val="3151"/>
              </a:lnSpc>
            </a:pPr>
            <a:r>
              <a:rPr lang="en-US" sz="2501" b="true">
                <a:solidFill>
                  <a:srgbClr val="FFFFFF"/>
                </a:solidFill>
                <a:latin typeface="Montserrat Bold"/>
                <a:ea typeface="Montserrat Bold"/>
                <a:cs typeface="Montserrat Bold"/>
                <a:sym typeface="Montserrat Bold"/>
              </a:rPr>
              <a:t>Space Complexity </a:t>
            </a:r>
          </a:p>
        </p:txBody>
      </p:sp>
      <p:pic>
        <p:nvPicPr>
          <p:cNvPr name="Picture 29" id="29"/>
          <p:cNvPicPr>
            <a:picLocks noChangeAspect="true"/>
          </p:cNvPicPr>
          <p:nvPr/>
        </p:nvPicPr>
        <p:blipFill>
          <a:blip r:embed="rId3"/>
          <a:stretch>
            <a:fillRect/>
          </a:stretch>
        </p:blipFill>
        <p:spPr>
          <a:xfrm rot="0">
            <a:off x="8452508" y="3182989"/>
            <a:ext cx="8297906" cy="1925331"/>
          </a:xfrm>
          <a:prstGeom prst="rect">
            <a:avLst/>
          </a:prstGeom>
        </p:spPr>
      </p:pic>
      <p:pic>
        <p:nvPicPr>
          <p:cNvPr name="Picture 30" id="30"/>
          <p:cNvPicPr>
            <a:picLocks noChangeAspect="true"/>
          </p:cNvPicPr>
          <p:nvPr/>
        </p:nvPicPr>
        <p:blipFill>
          <a:blip r:embed="rId4"/>
          <a:stretch>
            <a:fillRect/>
          </a:stretch>
        </p:blipFill>
        <p:spPr>
          <a:xfrm rot="0">
            <a:off x="3484657" y="4349259"/>
            <a:ext cx="2391827" cy="874623"/>
          </a:xfrm>
          <a:prstGeom prst="rect">
            <a:avLst/>
          </a:prstGeom>
        </p:spPr>
      </p:pic>
      <p:pic>
        <p:nvPicPr>
          <p:cNvPr name="Picture 31" id="31"/>
          <p:cNvPicPr>
            <a:picLocks noChangeAspect="true"/>
          </p:cNvPicPr>
          <p:nvPr/>
        </p:nvPicPr>
        <p:blipFill>
          <a:blip r:embed="rId5"/>
          <a:stretch>
            <a:fillRect/>
          </a:stretch>
        </p:blipFill>
        <p:spPr>
          <a:xfrm rot="0">
            <a:off x="5106711" y="5483467"/>
            <a:ext cx="2884316" cy="955504"/>
          </a:xfrm>
          <a:prstGeom prst="rect">
            <a:avLst/>
          </a:prstGeom>
        </p:spPr>
      </p:pic>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82251" y="140179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0" id="10"/>
          <p:cNvSpPr txBox="true"/>
          <p:nvPr/>
        </p:nvSpPr>
        <p:spPr>
          <a:xfrm rot="0">
            <a:off x="1132346" y="971550"/>
            <a:ext cx="4119949"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Freeform 11" id="11"/>
          <p:cNvSpPr/>
          <p:nvPr/>
        </p:nvSpPr>
        <p:spPr>
          <a:xfrm flipH="true" flipV="true" rot="0">
            <a:off x="-5316558" y="2097824"/>
            <a:ext cx="8063089" cy="6591575"/>
          </a:xfrm>
          <a:custGeom>
            <a:avLst/>
            <a:gdLst/>
            <a:ahLst/>
            <a:cxnLst/>
            <a:rect r="r" b="b" t="t" l="l"/>
            <a:pathLst>
              <a:path h="6591575" w="8063089">
                <a:moveTo>
                  <a:pt x="8063088" y="6591575"/>
                </a:moveTo>
                <a:lnTo>
                  <a:pt x="0" y="6591575"/>
                </a:lnTo>
                <a:lnTo>
                  <a:pt x="0" y="0"/>
                </a:lnTo>
                <a:lnTo>
                  <a:pt x="8063088" y="0"/>
                </a:lnTo>
                <a:lnTo>
                  <a:pt x="8063088" y="6591575"/>
                </a:lnTo>
                <a:close/>
              </a:path>
            </a:pathLst>
          </a:custGeom>
          <a:blipFill>
            <a:blip r:embed="rId3">
              <a:alphaModFix amt="31000"/>
            </a:blip>
            <a:stretch>
              <a:fillRect l="0" t="0" r="0" b="0"/>
            </a:stretch>
          </a:blipFill>
        </p:spPr>
      </p:sp>
      <p:grpSp>
        <p:nvGrpSpPr>
          <p:cNvPr name="Group 12" id="12"/>
          <p:cNvGrpSpPr/>
          <p:nvPr/>
        </p:nvGrpSpPr>
        <p:grpSpPr>
          <a:xfrm rot="0">
            <a:off x="9519228" y="2592013"/>
            <a:ext cx="955929" cy="9559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5" id="15"/>
          <p:cNvSpPr/>
          <p:nvPr/>
        </p:nvSpPr>
        <p:spPr>
          <a:xfrm flipH="false" flipV="false" rot="0">
            <a:off x="9787970" y="3239206"/>
            <a:ext cx="6330425" cy="6394111"/>
          </a:xfrm>
          <a:custGeom>
            <a:avLst/>
            <a:gdLst/>
            <a:ahLst/>
            <a:cxnLst/>
            <a:rect r="r" b="b" t="t" l="l"/>
            <a:pathLst>
              <a:path h="6394111" w="6330425">
                <a:moveTo>
                  <a:pt x="0" y="0"/>
                </a:moveTo>
                <a:lnTo>
                  <a:pt x="6330425" y="0"/>
                </a:lnTo>
                <a:lnTo>
                  <a:pt x="6330425" y="6394111"/>
                </a:lnTo>
                <a:lnTo>
                  <a:pt x="0" y="6394111"/>
                </a:lnTo>
                <a:lnTo>
                  <a:pt x="0" y="0"/>
                </a:lnTo>
                <a:close/>
              </a:path>
            </a:pathLst>
          </a:custGeom>
          <a:blipFill>
            <a:blip r:embed="rId4"/>
            <a:stretch>
              <a:fillRect l="0" t="0" r="0" b="0"/>
            </a:stretch>
          </a:blipFill>
        </p:spPr>
      </p:sp>
      <p:sp>
        <p:nvSpPr>
          <p:cNvPr name="TextBox 16" id="16"/>
          <p:cNvSpPr txBox="true"/>
          <p:nvPr/>
        </p:nvSpPr>
        <p:spPr>
          <a:xfrm rot="0">
            <a:off x="327343" y="9746674"/>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10</a:t>
            </a:r>
          </a:p>
        </p:txBody>
      </p:sp>
      <p:sp>
        <p:nvSpPr>
          <p:cNvPr name="TextBox 17" id="17"/>
          <p:cNvSpPr txBox="true"/>
          <p:nvPr/>
        </p:nvSpPr>
        <p:spPr>
          <a:xfrm rot="0">
            <a:off x="1137893" y="5644406"/>
            <a:ext cx="7905060"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Semi-Bold"/>
                <a:ea typeface="Montserrat Semi-Bold"/>
                <a:cs typeface="Montserrat Semi-Bold"/>
                <a:sym typeface="Montserrat Semi-Bold"/>
              </a:rPr>
              <a:t>Quadtree</a:t>
            </a:r>
          </a:p>
        </p:txBody>
      </p:sp>
      <p:sp>
        <p:nvSpPr>
          <p:cNvPr name="TextBox 18" id="18"/>
          <p:cNvSpPr txBox="true"/>
          <p:nvPr/>
        </p:nvSpPr>
        <p:spPr>
          <a:xfrm rot="0">
            <a:off x="1132346" y="4273821"/>
            <a:ext cx="8239898"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Bold"/>
                <a:ea typeface="Montserrat Bold"/>
                <a:cs typeface="Montserrat Bold"/>
                <a:sym typeface="Montserrat Bold"/>
              </a:rPr>
              <a:t>Application of</a:t>
            </a:r>
          </a:p>
        </p:txBody>
      </p:sp>
      <p:sp>
        <p:nvSpPr>
          <p:cNvPr name="TextBox 19" id="19"/>
          <p:cNvSpPr txBox="true"/>
          <p:nvPr/>
        </p:nvSpPr>
        <p:spPr>
          <a:xfrm rot="0">
            <a:off x="10239684" y="2876215"/>
            <a:ext cx="7327759" cy="706933"/>
          </a:xfrm>
          <a:prstGeom prst="rect">
            <a:avLst/>
          </a:prstGeom>
        </p:spPr>
        <p:txBody>
          <a:bodyPr anchor="t" rtlCol="false" tIns="0" lIns="0" bIns="0" rIns="0">
            <a:spAutoFit/>
          </a:bodyPr>
          <a:lstStyle/>
          <a:p>
            <a:pPr algn="l">
              <a:lnSpc>
                <a:spcPts val="2805"/>
              </a:lnSpc>
            </a:pPr>
            <a:r>
              <a:rPr lang="en-US" sz="2226" b="true">
                <a:solidFill>
                  <a:srgbClr val="3E67C8"/>
                </a:solidFill>
                <a:latin typeface="Montserrat Bold"/>
                <a:ea typeface="Montserrat Bold"/>
                <a:cs typeface="Montserrat Bold"/>
                <a:sym typeface="Montserrat Bold"/>
              </a:rPr>
              <a:t>Geographic Information Systems (GIS)</a:t>
            </a:r>
          </a:p>
          <a:p>
            <a:pPr algn="l">
              <a:lnSpc>
                <a:spcPts val="2805"/>
              </a:lnSpc>
            </a:pPr>
          </a:p>
        </p:txBody>
      </p:sp>
      <p:sp>
        <p:nvSpPr>
          <p:cNvPr name="TextBox 20" id="20"/>
          <p:cNvSpPr txBox="true"/>
          <p:nvPr/>
        </p:nvSpPr>
        <p:spPr>
          <a:xfrm rot="0">
            <a:off x="10492012" y="9529400"/>
            <a:ext cx="4922341" cy="274424"/>
          </a:xfrm>
          <a:prstGeom prst="rect">
            <a:avLst/>
          </a:prstGeom>
        </p:spPr>
        <p:txBody>
          <a:bodyPr anchor="t" rtlCol="false" tIns="0" lIns="0" bIns="0" rIns="0">
            <a:spAutoFit/>
          </a:bodyPr>
          <a:lstStyle/>
          <a:p>
            <a:pPr algn="ctr">
              <a:lnSpc>
                <a:spcPts val="2199"/>
              </a:lnSpc>
              <a:spcBef>
                <a:spcPct val="0"/>
              </a:spcBef>
            </a:pPr>
            <a:r>
              <a:rPr lang="en-US" b="true" sz="1570">
                <a:solidFill>
                  <a:srgbClr val="E62216"/>
                </a:solidFill>
                <a:latin typeface="Poppins Medium"/>
                <a:ea typeface="Poppins Medium"/>
                <a:cs typeface="Poppins Medium"/>
                <a:sym typeface="Poppins Medium"/>
              </a:rPr>
              <a:t>More references: </a:t>
            </a:r>
            <a:r>
              <a:rPr lang="en-US" b="true" sz="1570" u="sng">
                <a:solidFill>
                  <a:srgbClr val="E62216"/>
                </a:solidFill>
                <a:latin typeface="Poppins Medium"/>
                <a:ea typeface="Poppins Medium"/>
                <a:cs typeface="Poppins Medium"/>
                <a:sym typeface="Poppins Medium"/>
                <a:hlinkClick r:id="rId5" tooltip="https://medium.com/@waleoyediran/spatial-indexing-with-quadtrees-b998ae49336"/>
              </a:rPr>
              <a:t>Spatial Indexing with Quadtrees</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82251" y="140179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0" id="10"/>
          <p:cNvSpPr txBox="true"/>
          <p:nvPr/>
        </p:nvSpPr>
        <p:spPr>
          <a:xfrm rot="0">
            <a:off x="1132346" y="971550"/>
            <a:ext cx="2933009"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Freeform 11" id="11"/>
          <p:cNvSpPr/>
          <p:nvPr/>
        </p:nvSpPr>
        <p:spPr>
          <a:xfrm flipH="true" flipV="true" rot="0">
            <a:off x="-5316558" y="2777615"/>
            <a:ext cx="7134744" cy="5832653"/>
          </a:xfrm>
          <a:custGeom>
            <a:avLst/>
            <a:gdLst/>
            <a:ahLst/>
            <a:cxnLst/>
            <a:rect r="r" b="b" t="t" l="l"/>
            <a:pathLst>
              <a:path h="5832653" w="7134744">
                <a:moveTo>
                  <a:pt x="7134743" y="5832653"/>
                </a:moveTo>
                <a:lnTo>
                  <a:pt x="0" y="5832653"/>
                </a:lnTo>
                <a:lnTo>
                  <a:pt x="0" y="0"/>
                </a:lnTo>
                <a:lnTo>
                  <a:pt x="7134743" y="0"/>
                </a:lnTo>
                <a:lnTo>
                  <a:pt x="7134743" y="5832653"/>
                </a:lnTo>
                <a:close/>
              </a:path>
            </a:pathLst>
          </a:custGeom>
          <a:blipFill>
            <a:blip r:embed="rId3">
              <a:alphaModFix amt="31000"/>
            </a:blip>
            <a:stretch>
              <a:fillRect l="0" t="0" r="0" b="0"/>
            </a:stretch>
          </a:blipFill>
        </p:spPr>
      </p:sp>
      <p:grpSp>
        <p:nvGrpSpPr>
          <p:cNvPr name="Group 12" id="12"/>
          <p:cNvGrpSpPr/>
          <p:nvPr/>
        </p:nvGrpSpPr>
        <p:grpSpPr>
          <a:xfrm rot="0">
            <a:off x="862256" y="3376092"/>
            <a:ext cx="955929" cy="9559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5" id="15"/>
          <p:cNvSpPr/>
          <p:nvPr/>
        </p:nvSpPr>
        <p:spPr>
          <a:xfrm flipH="false" flipV="false" rot="0">
            <a:off x="7486885" y="1679153"/>
            <a:ext cx="3009927" cy="2972995"/>
          </a:xfrm>
          <a:custGeom>
            <a:avLst/>
            <a:gdLst/>
            <a:ahLst/>
            <a:cxnLst/>
            <a:rect r="r" b="b" t="t" l="l"/>
            <a:pathLst>
              <a:path h="2972995" w="3009927">
                <a:moveTo>
                  <a:pt x="0" y="0"/>
                </a:moveTo>
                <a:lnTo>
                  <a:pt x="3009927" y="0"/>
                </a:lnTo>
                <a:lnTo>
                  <a:pt x="3009927" y="2972995"/>
                </a:lnTo>
                <a:lnTo>
                  <a:pt x="0" y="2972995"/>
                </a:lnTo>
                <a:lnTo>
                  <a:pt x="0" y="0"/>
                </a:lnTo>
                <a:close/>
              </a:path>
            </a:pathLst>
          </a:custGeom>
          <a:blipFill>
            <a:blip r:embed="rId4"/>
            <a:stretch>
              <a:fillRect l="0" t="0" r="0" b="0"/>
            </a:stretch>
          </a:blipFill>
        </p:spPr>
      </p:sp>
      <p:sp>
        <p:nvSpPr>
          <p:cNvPr name="Freeform 16" id="16"/>
          <p:cNvSpPr/>
          <p:nvPr/>
        </p:nvSpPr>
        <p:spPr>
          <a:xfrm flipH="false" flipV="false" rot="0">
            <a:off x="11086532" y="1679153"/>
            <a:ext cx="2906418" cy="2860576"/>
          </a:xfrm>
          <a:custGeom>
            <a:avLst/>
            <a:gdLst/>
            <a:ahLst/>
            <a:cxnLst/>
            <a:rect r="r" b="b" t="t" l="l"/>
            <a:pathLst>
              <a:path h="2860576" w="2906418">
                <a:moveTo>
                  <a:pt x="0" y="0"/>
                </a:moveTo>
                <a:lnTo>
                  <a:pt x="2906418" y="0"/>
                </a:lnTo>
                <a:lnTo>
                  <a:pt x="2906418" y="2860575"/>
                </a:lnTo>
                <a:lnTo>
                  <a:pt x="0" y="2860575"/>
                </a:lnTo>
                <a:lnTo>
                  <a:pt x="0" y="0"/>
                </a:lnTo>
                <a:close/>
              </a:path>
            </a:pathLst>
          </a:custGeom>
          <a:blipFill>
            <a:blip r:embed="rId5"/>
            <a:stretch>
              <a:fillRect l="0" t="0" r="0" b="0"/>
            </a:stretch>
          </a:blipFill>
        </p:spPr>
      </p:sp>
      <p:sp>
        <p:nvSpPr>
          <p:cNvPr name="Freeform 17" id="17"/>
          <p:cNvSpPr/>
          <p:nvPr/>
        </p:nvSpPr>
        <p:spPr>
          <a:xfrm flipH="false" flipV="false" rot="0">
            <a:off x="14428500" y="1679153"/>
            <a:ext cx="3138943" cy="2860576"/>
          </a:xfrm>
          <a:custGeom>
            <a:avLst/>
            <a:gdLst/>
            <a:ahLst/>
            <a:cxnLst/>
            <a:rect r="r" b="b" t="t" l="l"/>
            <a:pathLst>
              <a:path h="2860576" w="3138943">
                <a:moveTo>
                  <a:pt x="0" y="0"/>
                </a:moveTo>
                <a:lnTo>
                  <a:pt x="3138943" y="0"/>
                </a:lnTo>
                <a:lnTo>
                  <a:pt x="3138943" y="2860575"/>
                </a:lnTo>
                <a:lnTo>
                  <a:pt x="0" y="2860575"/>
                </a:lnTo>
                <a:lnTo>
                  <a:pt x="0" y="0"/>
                </a:lnTo>
                <a:close/>
              </a:path>
            </a:pathLst>
          </a:custGeom>
          <a:blipFill>
            <a:blip r:embed="rId6"/>
            <a:stretch>
              <a:fillRect l="-249" t="0" r="-8079" b="0"/>
            </a:stretch>
          </a:blipFill>
        </p:spPr>
      </p:sp>
      <p:sp>
        <p:nvSpPr>
          <p:cNvPr name="TextBox 18" id="18"/>
          <p:cNvSpPr txBox="true"/>
          <p:nvPr/>
        </p:nvSpPr>
        <p:spPr>
          <a:xfrm rot="0">
            <a:off x="327343" y="9746674"/>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11</a:t>
            </a:r>
          </a:p>
        </p:txBody>
      </p:sp>
      <p:sp>
        <p:nvSpPr>
          <p:cNvPr name="TextBox 19" id="19"/>
          <p:cNvSpPr txBox="true"/>
          <p:nvPr/>
        </p:nvSpPr>
        <p:spPr>
          <a:xfrm rot="0">
            <a:off x="970474" y="2603760"/>
            <a:ext cx="7905060" cy="772332"/>
          </a:xfrm>
          <a:prstGeom prst="rect">
            <a:avLst/>
          </a:prstGeom>
        </p:spPr>
        <p:txBody>
          <a:bodyPr anchor="t" rtlCol="false" tIns="0" lIns="0" bIns="0" rIns="0">
            <a:spAutoFit/>
          </a:bodyPr>
          <a:lstStyle/>
          <a:p>
            <a:pPr algn="l">
              <a:lnSpc>
                <a:spcPts val="5616"/>
              </a:lnSpc>
            </a:pPr>
            <a:r>
              <a:rPr lang="en-US" sz="6310" b="true">
                <a:solidFill>
                  <a:srgbClr val="3E67C8"/>
                </a:solidFill>
                <a:latin typeface="Montserrat Semi-Bold"/>
                <a:ea typeface="Montserrat Semi-Bold"/>
                <a:cs typeface="Montserrat Semi-Bold"/>
                <a:sym typeface="Montserrat Semi-Bold"/>
              </a:rPr>
              <a:t>Quadtree</a:t>
            </a:r>
          </a:p>
        </p:txBody>
      </p:sp>
      <p:sp>
        <p:nvSpPr>
          <p:cNvPr name="TextBox 20" id="20"/>
          <p:cNvSpPr txBox="true"/>
          <p:nvPr/>
        </p:nvSpPr>
        <p:spPr>
          <a:xfrm rot="0">
            <a:off x="970474" y="1678020"/>
            <a:ext cx="8239898" cy="772332"/>
          </a:xfrm>
          <a:prstGeom prst="rect">
            <a:avLst/>
          </a:prstGeom>
        </p:spPr>
        <p:txBody>
          <a:bodyPr anchor="t" rtlCol="false" tIns="0" lIns="0" bIns="0" rIns="0">
            <a:spAutoFit/>
          </a:bodyPr>
          <a:lstStyle/>
          <a:p>
            <a:pPr algn="l">
              <a:lnSpc>
                <a:spcPts val="5616"/>
              </a:lnSpc>
            </a:pPr>
            <a:r>
              <a:rPr lang="en-US" sz="6310" b="true">
                <a:solidFill>
                  <a:srgbClr val="3E67C8"/>
                </a:solidFill>
                <a:latin typeface="Montserrat Bold"/>
                <a:ea typeface="Montserrat Bold"/>
                <a:cs typeface="Montserrat Bold"/>
                <a:sym typeface="Montserrat Bold"/>
              </a:rPr>
              <a:t>Application of</a:t>
            </a:r>
          </a:p>
        </p:txBody>
      </p:sp>
      <p:sp>
        <p:nvSpPr>
          <p:cNvPr name="TextBox 21" id="21"/>
          <p:cNvSpPr txBox="true"/>
          <p:nvPr/>
        </p:nvSpPr>
        <p:spPr>
          <a:xfrm rot="0">
            <a:off x="1426543" y="3625088"/>
            <a:ext cx="7327759" cy="472237"/>
          </a:xfrm>
          <a:prstGeom prst="rect">
            <a:avLst/>
          </a:prstGeom>
        </p:spPr>
        <p:txBody>
          <a:bodyPr anchor="t" rtlCol="false" tIns="0" lIns="0" bIns="0" rIns="0">
            <a:spAutoFit/>
          </a:bodyPr>
          <a:lstStyle/>
          <a:p>
            <a:pPr algn="l">
              <a:lnSpc>
                <a:spcPts val="3813"/>
              </a:lnSpc>
            </a:pPr>
            <a:r>
              <a:rPr lang="en-US" sz="3026" b="true">
                <a:solidFill>
                  <a:srgbClr val="3E67C8"/>
                </a:solidFill>
                <a:latin typeface="Montserrat Bold"/>
                <a:ea typeface="Montserrat Bold"/>
                <a:cs typeface="Montserrat Bold"/>
                <a:sym typeface="Montserrat Bold"/>
              </a:rPr>
              <a:t>Range Query</a:t>
            </a:r>
          </a:p>
        </p:txBody>
      </p:sp>
      <p:sp>
        <p:nvSpPr>
          <p:cNvPr name="TextBox 22" id="22"/>
          <p:cNvSpPr txBox="true"/>
          <p:nvPr/>
        </p:nvSpPr>
        <p:spPr>
          <a:xfrm rot="0">
            <a:off x="1340221" y="5014098"/>
            <a:ext cx="16027643" cy="4721221"/>
          </a:xfrm>
          <a:prstGeom prst="rect">
            <a:avLst/>
          </a:prstGeom>
        </p:spPr>
        <p:txBody>
          <a:bodyPr anchor="t" rtlCol="false" tIns="0" lIns="0" bIns="0" rIns="0">
            <a:spAutoFit/>
          </a:bodyPr>
          <a:lstStyle/>
          <a:p>
            <a:pPr algn="just">
              <a:lnSpc>
                <a:spcPts val="2482"/>
              </a:lnSpc>
            </a:pPr>
            <a:r>
              <a:rPr lang="en-US" sz="1969" b="true">
                <a:solidFill>
                  <a:srgbClr val="3E67C8"/>
                </a:solidFill>
                <a:latin typeface="Montserrat Bold"/>
                <a:ea typeface="Montserrat Bold"/>
                <a:cs typeface="Montserrat Bold"/>
                <a:sym typeface="Montserrat Bold"/>
              </a:rPr>
              <a:t>Given a PR quadtree and a query region R (which is possibly open-ended), the result of a range query is all of the stored points in the PR quadtree that lie within R. This operation may correspond to finding records in a database that meet a certain criteria. To do the range query, first we find the smallest node/cell u in the tree that completely contains R. For each child cell v of u: </a:t>
            </a:r>
          </a:p>
          <a:p>
            <a:pPr algn="just">
              <a:lnSpc>
                <a:spcPts val="2734"/>
              </a:lnSpc>
            </a:pPr>
            <a:r>
              <a:rPr lang="en-US" sz="2169" b="true">
                <a:solidFill>
                  <a:srgbClr val="FF66C4"/>
                </a:solidFill>
                <a:latin typeface="Montserrat Bold"/>
                <a:ea typeface="Montserrat Bold"/>
                <a:cs typeface="Montserrat Bold"/>
                <a:sym typeface="Montserrat Bold"/>
              </a:rPr>
              <a:t>• If v lies completely within R, add the points of v’s subtree to the query result and continue the query. </a:t>
            </a:r>
          </a:p>
          <a:p>
            <a:pPr algn="just">
              <a:lnSpc>
                <a:spcPts val="2734"/>
              </a:lnSpc>
            </a:pPr>
            <a:r>
              <a:rPr lang="en-US" sz="2169" b="true">
                <a:solidFill>
                  <a:srgbClr val="FF66C4"/>
                </a:solidFill>
                <a:latin typeface="Montserrat Bold"/>
                <a:ea typeface="Montserrat Bold"/>
                <a:cs typeface="Montserrat Bold"/>
                <a:sym typeface="Montserrat Bold"/>
              </a:rPr>
              <a:t>• If v and R do not intersect, discard v and continue with the other children. </a:t>
            </a:r>
          </a:p>
          <a:p>
            <a:pPr algn="l">
              <a:lnSpc>
                <a:spcPts val="2734"/>
              </a:lnSpc>
            </a:pPr>
            <a:r>
              <a:rPr lang="en-US" sz="2169" b="true">
                <a:solidFill>
                  <a:srgbClr val="FF66C4"/>
                </a:solidFill>
                <a:latin typeface="Montserrat Bold"/>
                <a:ea typeface="Montserrat Bold"/>
                <a:cs typeface="Montserrat Bold"/>
                <a:sym typeface="Montserrat Bold"/>
              </a:rPr>
              <a:t>• If v and R intersect, process the children of v similarly in turn(brute-force check leaves). [1]</a:t>
            </a:r>
          </a:p>
          <a:p>
            <a:pPr algn="l">
              <a:lnSpc>
                <a:spcPts val="2734"/>
              </a:lnSpc>
            </a:pPr>
            <a:r>
              <a:rPr lang="en-US" sz="2169" b="true">
                <a:solidFill>
                  <a:srgbClr val="CB6CE6"/>
                </a:solidFill>
                <a:latin typeface="Montserrat Bold"/>
                <a:ea typeface="Montserrat Bold"/>
                <a:cs typeface="Montserrat Bold"/>
                <a:sym typeface="Montserrat Bold"/>
              </a:rPr>
              <a:t>​</a:t>
            </a:r>
          </a:p>
          <a:p>
            <a:pPr algn="just">
              <a:lnSpc>
                <a:spcPts val="2482"/>
              </a:lnSpc>
            </a:pPr>
            <a:r>
              <a:rPr lang="en-US" b="true" sz="1969">
                <a:solidFill>
                  <a:srgbClr val="3E67C8"/>
                </a:solidFill>
                <a:latin typeface="Montserrat Bold"/>
                <a:ea typeface="Montserrat Bold"/>
                <a:cs typeface="Montserrat Bold"/>
                <a:sym typeface="Montserrat Bold"/>
              </a:rPr>
              <a:t>When the user zooms in on an area, Maps uses a range query to display only data points (restaurants, stores, etc.) within the visible region, minimizing data load and increasing rendering speed.[2]</a:t>
            </a:r>
          </a:p>
          <a:p>
            <a:pPr algn="just">
              <a:lnSpc>
                <a:spcPts val="2482"/>
              </a:lnSpc>
            </a:pPr>
          </a:p>
          <a:p>
            <a:pPr algn="just">
              <a:lnSpc>
                <a:spcPts val="2482"/>
              </a:lnSpc>
            </a:pPr>
            <a:r>
              <a:rPr lang="en-US" b="true" sz="1969">
                <a:solidFill>
                  <a:srgbClr val="BE6E63"/>
                </a:solidFill>
                <a:latin typeface="Montserrat Bold"/>
                <a:ea typeface="Montserrat Bold"/>
                <a:cs typeface="Montserrat Bold"/>
                <a:sym typeface="Montserrat Bold"/>
              </a:rPr>
              <a:t>References: </a:t>
            </a:r>
          </a:p>
          <a:p>
            <a:pPr algn="just">
              <a:lnSpc>
                <a:spcPts val="2482"/>
              </a:lnSpc>
            </a:pPr>
            <a:r>
              <a:rPr lang="en-US" sz="1969">
                <a:solidFill>
                  <a:srgbClr val="BE6E63"/>
                </a:solidFill>
                <a:latin typeface="Montserrat"/>
                <a:ea typeface="Montserrat"/>
                <a:cs typeface="Montserrat"/>
                <a:sym typeface="Montserrat"/>
              </a:rPr>
              <a:t>[1] </a:t>
            </a:r>
            <a:r>
              <a:rPr lang="en-US" b="true" sz="1969" u="sng">
                <a:solidFill>
                  <a:srgbClr val="BE6E63"/>
                </a:solidFill>
                <a:latin typeface="Montserrat Bold"/>
                <a:ea typeface="Montserrat Bold"/>
                <a:cs typeface="Montserrat Bold"/>
                <a:sym typeface="Montserrat Bold"/>
                <a:hlinkClick r:id="rId7" tooltip="https://people.scs.carleton.ca/~maheshwa/courses/5703COMP/16Fall/quadtrees-paper.pdf"/>
              </a:rPr>
              <a:t>people.scs.carleton.ca</a:t>
            </a:r>
          </a:p>
          <a:p>
            <a:pPr algn="just">
              <a:lnSpc>
                <a:spcPts val="2482"/>
              </a:lnSpc>
            </a:pPr>
            <a:r>
              <a:rPr lang="en-US" b="true" sz="1969">
                <a:solidFill>
                  <a:srgbClr val="BE6E63"/>
                </a:solidFill>
                <a:latin typeface="Montserrat Bold"/>
                <a:ea typeface="Montserrat Bold"/>
                <a:cs typeface="Montserrat Bold"/>
                <a:sym typeface="Montserrat Bold"/>
              </a:rPr>
              <a:t>[2]https://docs.maptiler.com/google-maps-coordinates-tile-bounds-projection/</a:t>
            </a:r>
          </a:p>
          <a:p>
            <a:pPr algn="just">
              <a:lnSpc>
                <a:spcPts val="1719"/>
              </a:lnSpc>
            </a:pP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82251" y="140179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0" id="10"/>
          <p:cNvSpPr txBox="true"/>
          <p:nvPr/>
        </p:nvSpPr>
        <p:spPr>
          <a:xfrm rot="0">
            <a:off x="1132346" y="971550"/>
            <a:ext cx="2753873"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Freeform 11" id="11"/>
          <p:cNvSpPr/>
          <p:nvPr/>
        </p:nvSpPr>
        <p:spPr>
          <a:xfrm flipH="true" flipV="true" rot="0">
            <a:off x="-5201534" y="193616"/>
            <a:ext cx="10124538" cy="8276810"/>
          </a:xfrm>
          <a:custGeom>
            <a:avLst/>
            <a:gdLst/>
            <a:ahLst/>
            <a:cxnLst/>
            <a:rect r="r" b="b" t="t" l="l"/>
            <a:pathLst>
              <a:path h="8276810" w="10124538">
                <a:moveTo>
                  <a:pt x="10124538" y="8276810"/>
                </a:moveTo>
                <a:lnTo>
                  <a:pt x="0" y="8276810"/>
                </a:lnTo>
                <a:lnTo>
                  <a:pt x="0" y="0"/>
                </a:lnTo>
                <a:lnTo>
                  <a:pt x="10124538" y="0"/>
                </a:lnTo>
                <a:lnTo>
                  <a:pt x="10124538" y="8276810"/>
                </a:lnTo>
                <a:close/>
              </a:path>
            </a:pathLst>
          </a:custGeom>
          <a:blipFill>
            <a:blip r:embed="rId3">
              <a:alphaModFix amt="31000"/>
            </a:blip>
            <a:stretch>
              <a:fillRect l="0" t="0" r="0" b="0"/>
            </a:stretch>
          </a:blipFill>
        </p:spPr>
      </p:sp>
      <p:grpSp>
        <p:nvGrpSpPr>
          <p:cNvPr name="Group 12" id="12"/>
          <p:cNvGrpSpPr/>
          <p:nvPr/>
        </p:nvGrpSpPr>
        <p:grpSpPr>
          <a:xfrm rot="0">
            <a:off x="862256" y="3376092"/>
            <a:ext cx="955929" cy="9559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5" id="15"/>
          <p:cNvSpPr/>
          <p:nvPr/>
        </p:nvSpPr>
        <p:spPr>
          <a:xfrm flipH="false" flipV="false" rot="0">
            <a:off x="9782531" y="1497045"/>
            <a:ext cx="7984491" cy="3426415"/>
          </a:xfrm>
          <a:custGeom>
            <a:avLst/>
            <a:gdLst/>
            <a:ahLst/>
            <a:cxnLst/>
            <a:rect r="r" b="b" t="t" l="l"/>
            <a:pathLst>
              <a:path h="3426415" w="7984491">
                <a:moveTo>
                  <a:pt x="0" y="0"/>
                </a:moveTo>
                <a:lnTo>
                  <a:pt x="7984491" y="0"/>
                </a:lnTo>
                <a:lnTo>
                  <a:pt x="7984491" y="3426415"/>
                </a:lnTo>
                <a:lnTo>
                  <a:pt x="0" y="3426415"/>
                </a:lnTo>
                <a:lnTo>
                  <a:pt x="0" y="0"/>
                </a:lnTo>
                <a:close/>
              </a:path>
            </a:pathLst>
          </a:custGeom>
          <a:blipFill>
            <a:blip r:embed="rId4"/>
            <a:stretch>
              <a:fillRect l="0" t="0" r="0" b="0"/>
            </a:stretch>
          </a:blipFill>
        </p:spPr>
      </p:sp>
      <p:sp>
        <p:nvSpPr>
          <p:cNvPr name="TextBox 16" id="16"/>
          <p:cNvSpPr txBox="true"/>
          <p:nvPr/>
        </p:nvSpPr>
        <p:spPr>
          <a:xfrm rot="0">
            <a:off x="327343" y="9746674"/>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12</a:t>
            </a:r>
          </a:p>
        </p:txBody>
      </p:sp>
      <p:sp>
        <p:nvSpPr>
          <p:cNvPr name="TextBox 17" id="17"/>
          <p:cNvSpPr txBox="true"/>
          <p:nvPr/>
        </p:nvSpPr>
        <p:spPr>
          <a:xfrm rot="0">
            <a:off x="970474" y="2603760"/>
            <a:ext cx="7905060" cy="772332"/>
          </a:xfrm>
          <a:prstGeom prst="rect">
            <a:avLst/>
          </a:prstGeom>
        </p:spPr>
        <p:txBody>
          <a:bodyPr anchor="t" rtlCol="false" tIns="0" lIns="0" bIns="0" rIns="0">
            <a:spAutoFit/>
          </a:bodyPr>
          <a:lstStyle/>
          <a:p>
            <a:pPr algn="l">
              <a:lnSpc>
                <a:spcPts val="5616"/>
              </a:lnSpc>
            </a:pPr>
            <a:r>
              <a:rPr lang="en-US" sz="6310" b="true">
                <a:solidFill>
                  <a:srgbClr val="3E67C8"/>
                </a:solidFill>
                <a:latin typeface="Montserrat Semi-Bold"/>
                <a:ea typeface="Montserrat Semi-Bold"/>
                <a:cs typeface="Montserrat Semi-Bold"/>
                <a:sym typeface="Montserrat Semi-Bold"/>
              </a:rPr>
              <a:t>Quadtree</a:t>
            </a:r>
          </a:p>
        </p:txBody>
      </p:sp>
      <p:sp>
        <p:nvSpPr>
          <p:cNvPr name="TextBox 18" id="18"/>
          <p:cNvSpPr txBox="true"/>
          <p:nvPr/>
        </p:nvSpPr>
        <p:spPr>
          <a:xfrm rot="0">
            <a:off x="970474" y="1678020"/>
            <a:ext cx="8239898" cy="772332"/>
          </a:xfrm>
          <a:prstGeom prst="rect">
            <a:avLst/>
          </a:prstGeom>
        </p:spPr>
        <p:txBody>
          <a:bodyPr anchor="t" rtlCol="false" tIns="0" lIns="0" bIns="0" rIns="0">
            <a:spAutoFit/>
          </a:bodyPr>
          <a:lstStyle/>
          <a:p>
            <a:pPr algn="l">
              <a:lnSpc>
                <a:spcPts val="5616"/>
              </a:lnSpc>
            </a:pPr>
            <a:r>
              <a:rPr lang="en-US" sz="6310" b="true">
                <a:solidFill>
                  <a:srgbClr val="3E67C8"/>
                </a:solidFill>
                <a:latin typeface="Montserrat Bold"/>
                <a:ea typeface="Montserrat Bold"/>
                <a:cs typeface="Montserrat Bold"/>
                <a:sym typeface="Montserrat Bold"/>
              </a:rPr>
              <a:t>Application of</a:t>
            </a:r>
          </a:p>
        </p:txBody>
      </p:sp>
      <p:sp>
        <p:nvSpPr>
          <p:cNvPr name="TextBox 19" id="19"/>
          <p:cNvSpPr txBox="true"/>
          <p:nvPr/>
        </p:nvSpPr>
        <p:spPr>
          <a:xfrm rot="0">
            <a:off x="1426543" y="3625088"/>
            <a:ext cx="7327759" cy="472237"/>
          </a:xfrm>
          <a:prstGeom prst="rect">
            <a:avLst/>
          </a:prstGeom>
        </p:spPr>
        <p:txBody>
          <a:bodyPr anchor="t" rtlCol="false" tIns="0" lIns="0" bIns="0" rIns="0">
            <a:spAutoFit/>
          </a:bodyPr>
          <a:lstStyle/>
          <a:p>
            <a:pPr algn="l">
              <a:lnSpc>
                <a:spcPts val="3813"/>
              </a:lnSpc>
            </a:pPr>
            <a:r>
              <a:rPr lang="en-US" sz="3026" b="true">
                <a:solidFill>
                  <a:srgbClr val="3E67C8"/>
                </a:solidFill>
                <a:latin typeface="Montserrat Bold"/>
                <a:ea typeface="Montserrat Bold"/>
                <a:cs typeface="Montserrat Bold"/>
                <a:sym typeface="Montserrat Bold"/>
              </a:rPr>
              <a:t>Spherical Region Query</a:t>
            </a:r>
          </a:p>
        </p:txBody>
      </p:sp>
      <p:sp>
        <p:nvSpPr>
          <p:cNvPr name="TextBox 20" id="20"/>
          <p:cNvSpPr txBox="true"/>
          <p:nvPr/>
        </p:nvSpPr>
        <p:spPr>
          <a:xfrm rot="0">
            <a:off x="1340221" y="4875835"/>
            <a:ext cx="16426801" cy="5183795"/>
          </a:xfrm>
          <a:prstGeom prst="rect">
            <a:avLst/>
          </a:prstGeom>
        </p:spPr>
        <p:txBody>
          <a:bodyPr anchor="t" rtlCol="false" tIns="0" lIns="0" bIns="0" rIns="0">
            <a:spAutoFit/>
          </a:bodyPr>
          <a:lstStyle/>
          <a:p>
            <a:pPr algn="just">
              <a:lnSpc>
                <a:spcPts val="3156"/>
              </a:lnSpc>
            </a:pPr>
            <a:r>
              <a:rPr lang="en-US" sz="2207" b="true">
                <a:solidFill>
                  <a:srgbClr val="3E67C8"/>
                </a:solidFill>
                <a:latin typeface="Montserrat Bold"/>
                <a:ea typeface="Montserrat Bold"/>
                <a:cs typeface="Montserrat Bold"/>
                <a:sym typeface="Montserrat Bold"/>
              </a:rPr>
              <a:t>Given a PR quadtree, a query point q, and a distance r&gt;0, the result of a spherical region query is all of the stored points in the tree that lie in the circle centred at q with radius r. An example query may be a request for all hospitals within 10 km of someone’s current location. The query is answered by walking down the tree from the root to the cell containing q while exploring andruling out cells on the way. For each cell v we have not yet ruled out:</a:t>
            </a:r>
          </a:p>
          <a:p>
            <a:pPr algn="just" marL="476592" indent="-238296" lvl="1">
              <a:lnSpc>
                <a:spcPts val="3156"/>
              </a:lnSpc>
              <a:buFont typeface="Arial"/>
              <a:buChar char="•"/>
            </a:pPr>
            <a:r>
              <a:rPr lang="en-US" b="true" sz="2207">
                <a:solidFill>
                  <a:srgbClr val="FF66C4"/>
                </a:solidFill>
                <a:latin typeface="Montserrat Bold"/>
                <a:ea typeface="Montserrat Bold"/>
                <a:cs typeface="Montserrat Bold"/>
                <a:sym typeface="Montserrat Bold"/>
              </a:rPr>
              <a:t>If the farthest spatial point in v is less than r from q, add all stored points in v to the query result, remove v from consideration, and continue the query.</a:t>
            </a:r>
          </a:p>
          <a:p>
            <a:pPr algn="just" marL="476592" indent="-238296" lvl="1">
              <a:lnSpc>
                <a:spcPts val="3156"/>
              </a:lnSpc>
              <a:buFont typeface="Arial"/>
              <a:buChar char="•"/>
            </a:pPr>
            <a:r>
              <a:rPr lang="en-US" b="true" sz="2207">
                <a:solidFill>
                  <a:srgbClr val="FF66C4"/>
                </a:solidFill>
                <a:latin typeface="Montserrat Bold"/>
                <a:ea typeface="Montserrat Bold"/>
                <a:cs typeface="Montserrat Bold"/>
                <a:sym typeface="Montserrat Bold"/>
              </a:rPr>
              <a:t>If the closest spatial point in v is more than r from q, remove v from consideration, and continue the query.</a:t>
            </a:r>
          </a:p>
          <a:p>
            <a:pPr algn="just" marL="476592" indent="-238296" lvl="1">
              <a:lnSpc>
                <a:spcPts val="3156"/>
              </a:lnSpc>
              <a:buFont typeface="Arial"/>
              <a:buChar char="•"/>
            </a:pPr>
            <a:r>
              <a:rPr lang="en-US" b="true" sz="2207">
                <a:solidFill>
                  <a:srgbClr val="FF66C4"/>
                </a:solidFill>
                <a:latin typeface="Montserrat Bold"/>
                <a:ea typeface="Montserrat Bold"/>
                <a:cs typeface="Montserrat Bold"/>
                <a:sym typeface="Montserrat Bold"/>
              </a:rPr>
              <a:t>Otherwise, remove v and add its children for consideration (brute-force check the data points of a leaf’s cell).</a:t>
            </a:r>
          </a:p>
          <a:p>
            <a:pPr algn="just">
              <a:lnSpc>
                <a:spcPts val="3156"/>
              </a:lnSpc>
            </a:pPr>
            <a:r>
              <a:rPr lang="en-US" b="true" sz="2207">
                <a:solidFill>
                  <a:srgbClr val="3E67C8"/>
                </a:solidFill>
                <a:latin typeface="Montserrat Bold"/>
                <a:ea typeface="Montserrat Bold"/>
                <a:cs typeface="Montserrat Bold"/>
                <a:sym typeface="Montserrat Bold"/>
              </a:rPr>
              <a:t>Maps uses a spherical region query to provide services such as nearby location searches (e.g., restaurants, gas stations, hospitals) within a specific radius from the user's location.</a:t>
            </a:r>
          </a:p>
          <a:p>
            <a:pPr algn="just">
              <a:lnSpc>
                <a:spcPts val="3156"/>
              </a:lnSpc>
            </a:pP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82251" y="140179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0" id="10"/>
          <p:cNvSpPr txBox="true"/>
          <p:nvPr/>
        </p:nvSpPr>
        <p:spPr>
          <a:xfrm rot="0">
            <a:off x="1132346" y="971550"/>
            <a:ext cx="2725142"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Freeform 11" id="11"/>
          <p:cNvSpPr/>
          <p:nvPr/>
        </p:nvSpPr>
        <p:spPr>
          <a:xfrm flipH="true" flipV="true" rot="0">
            <a:off x="-5278917" y="-272117"/>
            <a:ext cx="10066789" cy="7833421"/>
          </a:xfrm>
          <a:custGeom>
            <a:avLst/>
            <a:gdLst/>
            <a:ahLst/>
            <a:cxnLst/>
            <a:rect r="r" b="b" t="t" l="l"/>
            <a:pathLst>
              <a:path h="7833421" w="10066789">
                <a:moveTo>
                  <a:pt x="10066789" y="7833421"/>
                </a:moveTo>
                <a:lnTo>
                  <a:pt x="0" y="7833421"/>
                </a:lnTo>
                <a:lnTo>
                  <a:pt x="0" y="0"/>
                </a:lnTo>
                <a:lnTo>
                  <a:pt x="10066789" y="0"/>
                </a:lnTo>
                <a:lnTo>
                  <a:pt x="10066789" y="7833421"/>
                </a:lnTo>
                <a:close/>
              </a:path>
            </a:pathLst>
          </a:custGeom>
          <a:blipFill>
            <a:blip r:embed="rId3">
              <a:alphaModFix amt="31000"/>
            </a:blip>
            <a:stretch>
              <a:fillRect l="0" t="0" r="0" b="-5057"/>
            </a:stretch>
          </a:blipFill>
        </p:spPr>
      </p:sp>
      <p:grpSp>
        <p:nvGrpSpPr>
          <p:cNvPr name="Group 12" id="12"/>
          <p:cNvGrpSpPr/>
          <p:nvPr/>
        </p:nvGrpSpPr>
        <p:grpSpPr>
          <a:xfrm rot="0">
            <a:off x="814778" y="2516759"/>
            <a:ext cx="955929" cy="9559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5" id="15"/>
          <p:cNvSpPr/>
          <p:nvPr/>
        </p:nvSpPr>
        <p:spPr>
          <a:xfrm flipH="false" flipV="false" rot="0">
            <a:off x="11238335" y="7254411"/>
            <a:ext cx="7097792" cy="2948568"/>
          </a:xfrm>
          <a:custGeom>
            <a:avLst/>
            <a:gdLst/>
            <a:ahLst/>
            <a:cxnLst/>
            <a:rect r="r" b="b" t="t" l="l"/>
            <a:pathLst>
              <a:path h="2948568" w="7097792">
                <a:moveTo>
                  <a:pt x="0" y="0"/>
                </a:moveTo>
                <a:lnTo>
                  <a:pt x="7097792" y="0"/>
                </a:lnTo>
                <a:lnTo>
                  <a:pt x="7097792" y="2948568"/>
                </a:lnTo>
                <a:lnTo>
                  <a:pt x="0" y="2948568"/>
                </a:lnTo>
                <a:lnTo>
                  <a:pt x="0" y="0"/>
                </a:lnTo>
                <a:close/>
              </a:path>
            </a:pathLst>
          </a:custGeom>
          <a:blipFill>
            <a:blip r:embed="rId4"/>
            <a:stretch>
              <a:fillRect l="0" t="-1165" r="0" b="-1165"/>
            </a:stretch>
          </a:blipFill>
        </p:spPr>
      </p:sp>
      <p:sp>
        <p:nvSpPr>
          <p:cNvPr name="Freeform 16" id="16"/>
          <p:cNvSpPr/>
          <p:nvPr/>
        </p:nvSpPr>
        <p:spPr>
          <a:xfrm flipH="false" flipV="false" rot="0">
            <a:off x="11807441" y="1973698"/>
            <a:ext cx="5959581" cy="4728263"/>
          </a:xfrm>
          <a:custGeom>
            <a:avLst/>
            <a:gdLst/>
            <a:ahLst/>
            <a:cxnLst/>
            <a:rect r="r" b="b" t="t" l="l"/>
            <a:pathLst>
              <a:path h="4728263" w="5959581">
                <a:moveTo>
                  <a:pt x="0" y="0"/>
                </a:moveTo>
                <a:lnTo>
                  <a:pt x="5959581" y="0"/>
                </a:lnTo>
                <a:lnTo>
                  <a:pt x="5959581" y="4728263"/>
                </a:lnTo>
                <a:lnTo>
                  <a:pt x="0" y="4728263"/>
                </a:lnTo>
                <a:lnTo>
                  <a:pt x="0" y="0"/>
                </a:lnTo>
                <a:close/>
              </a:path>
            </a:pathLst>
          </a:custGeom>
          <a:blipFill>
            <a:blip r:embed="rId5"/>
            <a:stretch>
              <a:fillRect l="0" t="0" r="0" b="0"/>
            </a:stretch>
          </a:blipFill>
        </p:spPr>
      </p:sp>
      <p:sp>
        <p:nvSpPr>
          <p:cNvPr name="TextBox 17" id="17"/>
          <p:cNvSpPr txBox="true"/>
          <p:nvPr/>
        </p:nvSpPr>
        <p:spPr>
          <a:xfrm rot="0">
            <a:off x="1426543" y="3425063"/>
            <a:ext cx="9510832" cy="5833237"/>
          </a:xfrm>
          <a:prstGeom prst="rect">
            <a:avLst/>
          </a:prstGeom>
        </p:spPr>
        <p:txBody>
          <a:bodyPr anchor="t" rtlCol="false" tIns="0" lIns="0" bIns="0" rIns="0">
            <a:spAutoFit/>
          </a:bodyPr>
          <a:lstStyle/>
          <a:p>
            <a:pPr algn="just">
              <a:lnSpc>
                <a:spcPts val="3114"/>
              </a:lnSpc>
            </a:pPr>
            <a:r>
              <a:rPr lang="en-US" sz="2178" b="true">
                <a:solidFill>
                  <a:srgbClr val="3E67C8"/>
                </a:solidFill>
                <a:latin typeface="Montserrat Bold"/>
                <a:ea typeface="Montserrat Bold"/>
                <a:cs typeface="Montserrat Bold"/>
                <a:sym typeface="Montserrat Bold"/>
              </a:rPr>
              <a:t>Given a quadtree for a polygonal map and a query point q, the result of a point location query is the polygon in which q lies. An example of such a query is a traveller asking a map service which city they are currently in.The quadtree we will consider here is a slight variation of the ones seen above. The difference is that the stopping criterion for the subdivision is when a cell is intersected by a constant number of polygons. With such a quadtree, the point location query is rather simple: find the leaf in the quadtree that contains q, then check which of the O(1) polygons contain q (in other words, brute-force check against the polygons in the leaf of q).</a:t>
            </a:r>
          </a:p>
          <a:p>
            <a:pPr algn="just">
              <a:lnSpc>
                <a:spcPts val="3114"/>
              </a:lnSpc>
            </a:pPr>
            <a:r>
              <a:rPr lang="en-US" b="true" sz="2178">
                <a:solidFill>
                  <a:srgbClr val="3E67C8"/>
                </a:solidFill>
                <a:latin typeface="Montserrat Bold"/>
                <a:ea typeface="Montserrat Bold"/>
                <a:cs typeface="Montserrat Bold"/>
                <a:sym typeface="Montserrat Bold"/>
              </a:rPr>
              <a:t>Maps uses a point location query to determine the user's exact position on the map, such as identifying the city, district, or country the user is in.</a:t>
            </a:r>
          </a:p>
          <a:p>
            <a:pPr algn="just">
              <a:lnSpc>
                <a:spcPts val="3114"/>
              </a:lnSpc>
            </a:pPr>
          </a:p>
        </p:txBody>
      </p:sp>
      <p:sp>
        <p:nvSpPr>
          <p:cNvPr name="TextBox 18" id="18"/>
          <p:cNvSpPr txBox="true"/>
          <p:nvPr/>
        </p:nvSpPr>
        <p:spPr>
          <a:xfrm rot="0">
            <a:off x="327343" y="9746674"/>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13</a:t>
            </a:r>
          </a:p>
        </p:txBody>
      </p:sp>
      <p:sp>
        <p:nvSpPr>
          <p:cNvPr name="TextBox 19" id="19"/>
          <p:cNvSpPr txBox="true"/>
          <p:nvPr/>
        </p:nvSpPr>
        <p:spPr>
          <a:xfrm rot="0">
            <a:off x="7237678" y="1678020"/>
            <a:ext cx="7905060" cy="772332"/>
          </a:xfrm>
          <a:prstGeom prst="rect">
            <a:avLst/>
          </a:prstGeom>
        </p:spPr>
        <p:txBody>
          <a:bodyPr anchor="t" rtlCol="false" tIns="0" lIns="0" bIns="0" rIns="0">
            <a:spAutoFit/>
          </a:bodyPr>
          <a:lstStyle/>
          <a:p>
            <a:pPr algn="l">
              <a:lnSpc>
                <a:spcPts val="5616"/>
              </a:lnSpc>
            </a:pPr>
            <a:r>
              <a:rPr lang="en-US" sz="6310" b="true">
                <a:solidFill>
                  <a:srgbClr val="3E67C8"/>
                </a:solidFill>
                <a:latin typeface="Montserrat Semi-Bold"/>
                <a:ea typeface="Montserrat Semi-Bold"/>
                <a:cs typeface="Montserrat Semi-Bold"/>
                <a:sym typeface="Montserrat Semi-Bold"/>
              </a:rPr>
              <a:t>Quadtree</a:t>
            </a:r>
          </a:p>
        </p:txBody>
      </p:sp>
      <p:sp>
        <p:nvSpPr>
          <p:cNvPr name="TextBox 20" id="20"/>
          <p:cNvSpPr txBox="true"/>
          <p:nvPr/>
        </p:nvSpPr>
        <p:spPr>
          <a:xfrm rot="0">
            <a:off x="970474" y="1678020"/>
            <a:ext cx="8239898" cy="772332"/>
          </a:xfrm>
          <a:prstGeom prst="rect">
            <a:avLst/>
          </a:prstGeom>
        </p:spPr>
        <p:txBody>
          <a:bodyPr anchor="t" rtlCol="false" tIns="0" lIns="0" bIns="0" rIns="0">
            <a:spAutoFit/>
          </a:bodyPr>
          <a:lstStyle/>
          <a:p>
            <a:pPr algn="l">
              <a:lnSpc>
                <a:spcPts val="5616"/>
              </a:lnSpc>
            </a:pPr>
            <a:r>
              <a:rPr lang="en-US" sz="6310" b="true">
                <a:solidFill>
                  <a:srgbClr val="3E67C8"/>
                </a:solidFill>
                <a:latin typeface="Montserrat Bold"/>
                <a:ea typeface="Montserrat Bold"/>
                <a:cs typeface="Montserrat Bold"/>
                <a:sym typeface="Montserrat Bold"/>
              </a:rPr>
              <a:t>Application of</a:t>
            </a:r>
          </a:p>
        </p:txBody>
      </p:sp>
      <p:sp>
        <p:nvSpPr>
          <p:cNvPr name="TextBox 21" id="21"/>
          <p:cNvSpPr txBox="true"/>
          <p:nvPr/>
        </p:nvSpPr>
        <p:spPr>
          <a:xfrm rot="0">
            <a:off x="1426543" y="2717267"/>
            <a:ext cx="7327759" cy="535864"/>
          </a:xfrm>
          <a:prstGeom prst="rect">
            <a:avLst/>
          </a:prstGeom>
        </p:spPr>
        <p:txBody>
          <a:bodyPr anchor="t" rtlCol="false" tIns="0" lIns="0" bIns="0" rIns="0">
            <a:spAutoFit/>
          </a:bodyPr>
          <a:lstStyle/>
          <a:p>
            <a:pPr algn="l">
              <a:lnSpc>
                <a:spcPts val="4317"/>
              </a:lnSpc>
            </a:pPr>
            <a:r>
              <a:rPr lang="en-US" sz="3426" b="true">
                <a:solidFill>
                  <a:srgbClr val="3E67C8"/>
                </a:solidFill>
                <a:latin typeface="Montserrat Bold"/>
                <a:ea typeface="Montserrat Bold"/>
                <a:cs typeface="Montserrat Bold"/>
                <a:sym typeface="Montserrat Bold"/>
              </a:rPr>
              <a:t>Point Location</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68208" y="91602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grpSp>
        <p:nvGrpSpPr>
          <p:cNvPr name="Group 10" id="10"/>
          <p:cNvGrpSpPr/>
          <p:nvPr/>
        </p:nvGrpSpPr>
        <p:grpSpPr>
          <a:xfrm rot="0">
            <a:off x="1450323" y="2923999"/>
            <a:ext cx="1308590" cy="130859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3" id="13"/>
          <p:cNvSpPr/>
          <p:nvPr/>
        </p:nvSpPr>
        <p:spPr>
          <a:xfrm flipH="false" flipV="false" rot="0">
            <a:off x="15972386" y="8580836"/>
            <a:ext cx="2099184" cy="1354928"/>
          </a:xfrm>
          <a:custGeom>
            <a:avLst/>
            <a:gdLst/>
            <a:ahLst/>
            <a:cxnLst/>
            <a:rect r="r" b="b" t="t" l="l"/>
            <a:pathLst>
              <a:path h="1354928" w="2099184">
                <a:moveTo>
                  <a:pt x="0" y="0"/>
                </a:moveTo>
                <a:lnTo>
                  <a:pt x="2099184" y="0"/>
                </a:lnTo>
                <a:lnTo>
                  <a:pt x="2099184" y="1354928"/>
                </a:lnTo>
                <a:lnTo>
                  <a:pt x="0" y="13549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450323" y="4734344"/>
            <a:ext cx="8467799" cy="1836455"/>
          </a:xfrm>
          <a:custGeom>
            <a:avLst/>
            <a:gdLst/>
            <a:ahLst/>
            <a:cxnLst/>
            <a:rect r="r" b="b" t="t" l="l"/>
            <a:pathLst>
              <a:path h="1836455" w="8467799">
                <a:moveTo>
                  <a:pt x="0" y="0"/>
                </a:moveTo>
                <a:lnTo>
                  <a:pt x="8467799" y="0"/>
                </a:lnTo>
                <a:lnTo>
                  <a:pt x="8467799" y="1836455"/>
                </a:lnTo>
                <a:lnTo>
                  <a:pt x="0" y="1836455"/>
                </a:lnTo>
                <a:lnTo>
                  <a:pt x="0" y="0"/>
                </a:lnTo>
                <a:close/>
              </a:path>
            </a:pathLst>
          </a:custGeom>
          <a:blipFill>
            <a:blip r:embed="rId5"/>
            <a:stretch>
              <a:fillRect l="0" t="0" r="-33461" b="0"/>
            </a:stretch>
          </a:blipFill>
          <a:ln w="76200"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Freeform 15" id="15"/>
          <p:cNvSpPr/>
          <p:nvPr/>
        </p:nvSpPr>
        <p:spPr>
          <a:xfrm flipH="false" flipV="false" rot="0">
            <a:off x="10777401" y="4734344"/>
            <a:ext cx="7294168" cy="1836455"/>
          </a:xfrm>
          <a:custGeom>
            <a:avLst/>
            <a:gdLst/>
            <a:ahLst/>
            <a:cxnLst/>
            <a:rect r="r" b="b" t="t" l="l"/>
            <a:pathLst>
              <a:path h="1836455" w="7294168">
                <a:moveTo>
                  <a:pt x="0" y="0"/>
                </a:moveTo>
                <a:lnTo>
                  <a:pt x="7294169" y="0"/>
                </a:lnTo>
                <a:lnTo>
                  <a:pt x="7294169" y="1836455"/>
                </a:lnTo>
                <a:lnTo>
                  <a:pt x="0" y="1836455"/>
                </a:lnTo>
                <a:lnTo>
                  <a:pt x="0" y="0"/>
                </a:lnTo>
                <a:close/>
              </a:path>
            </a:pathLst>
          </a:custGeom>
          <a:blipFill>
            <a:blip r:embed="rId6"/>
            <a:stretch>
              <a:fillRect l="0" t="0" r="-54935" b="-4615"/>
            </a:stretch>
          </a:blipFill>
          <a:ln w="76200"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TextBox 16" id="16"/>
          <p:cNvSpPr txBox="true"/>
          <p:nvPr/>
        </p:nvSpPr>
        <p:spPr>
          <a:xfrm rot="0">
            <a:off x="1164409" y="601462"/>
            <a:ext cx="3440335"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7" id="17"/>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14</a:t>
            </a:r>
          </a:p>
        </p:txBody>
      </p:sp>
      <p:sp>
        <p:nvSpPr>
          <p:cNvPr name="TextBox 18" id="18"/>
          <p:cNvSpPr txBox="true"/>
          <p:nvPr/>
        </p:nvSpPr>
        <p:spPr>
          <a:xfrm rot="0">
            <a:off x="1758239" y="1291322"/>
            <a:ext cx="13300757" cy="1716579"/>
          </a:xfrm>
          <a:prstGeom prst="rect">
            <a:avLst/>
          </a:prstGeom>
        </p:spPr>
        <p:txBody>
          <a:bodyPr anchor="t" rtlCol="false" tIns="0" lIns="0" bIns="0" rIns="0">
            <a:spAutoFit/>
          </a:bodyPr>
          <a:lstStyle/>
          <a:p>
            <a:pPr algn="ctr">
              <a:lnSpc>
                <a:spcPts val="6506"/>
              </a:lnSpc>
            </a:pPr>
            <a:r>
              <a:rPr lang="en-US" b="true" sz="7310">
                <a:solidFill>
                  <a:srgbClr val="3E67C8"/>
                </a:solidFill>
                <a:latin typeface="Montserrat Ultra-Bold"/>
                <a:ea typeface="Montserrat Ultra-Bold"/>
                <a:cs typeface="Montserrat Ultra-Bold"/>
                <a:sym typeface="Montserrat Ultra-Bold"/>
              </a:rPr>
              <a:t>How Quadtree Works in the SDK</a:t>
            </a:r>
          </a:p>
        </p:txBody>
      </p:sp>
      <p:sp>
        <p:nvSpPr>
          <p:cNvPr name="TextBox 19" id="19"/>
          <p:cNvSpPr txBox="true"/>
          <p:nvPr/>
        </p:nvSpPr>
        <p:spPr>
          <a:xfrm rot="0">
            <a:off x="2235256" y="3029409"/>
            <a:ext cx="14786721" cy="745219"/>
          </a:xfrm>
          <a:prstGeom prst="rect">
            <a:avLst/>
          </a:prstGeom>
        </p:spPr>
        <p:txBody>
          <a:bodyPr anchor="t" rtlCol="false" tIns="0" lIns="0" bIns="0" rIns="0">
            <a:spAutoFit/>
          </a:bodyPr>
          <a:lstStyle/>
          <a:p>
            <a:pPr algn="just">
              <a:lnSpc>
                <a:spcPts val="3044"/>
              </a:lnSpc>
            </a:pPr>
            <a:r>
              <a:rPr lang="en-US" b="true" sz="1926">
                <a:solidFill>
                  <a:srgbClr val="3E67C8"/>
                </a:solidFill>
                <a:latin typeface="Montserrat Bold"/>
                <a:ea typeface="Montserrat Bold"/>
                <a:cs typeface="Montserrat Bold"/>
                <a:sym typeface="Montserrat Bold"/>
              </a:rPr>
              <a:t>The quadtree is integrated into the SDK's mapping library for iOS. Google's developer documentation has made its implementation open-source. </a:t>
            </a:r>
            <a:r>
              <a:rPr lang="en-US" b="true" sz="1926" u="sng">
                <a:solidFill>
                  <a:srgbClr val="3E67C8"/>
                </a:solidFill>
                <a:latin typeface="Montserrat Bold"/>
                <a:ea typeface="Montserrat Bold"/>
                <a:cs typeface="Montserrat Bold"/>
                <a:sym typeface="Montserrat Bold"/>
                <a:hlinkClick r:id="rId7" tooltip="https://developers.google.com/maps/documentation/ios-sdk/utility/quadtree?hl=en"/>
              </a:rPr>
              <a:t>Google for Developers</a:t>
            </a:r>
            <a:r>
              <a:rPr lang="en-US" b="true" sz="1926" u="sng">
                <a:solidFill>
                  <a:srgbClr val="3E67C8"/>
                </a:solidFill>
                <a:latin typeface="Montserrat Bold"/>
                <a:ea typeface="Montserrat Bold"/>
                <a:cs typeface="Montserrat Bold"/>
                <a:sym typeface="Montserrat Bold"/>
                <a:hlinkClick r:id="rId8" tooltip="https://developers.google.com/maps/documentation/ios-sdk/utility/quadtree?hl=en"/>
              </a:rPr>
              <a:t>Quadtree | Maps SDK for iOS | Google for Developers</a:t>
            </a:r>
            <a:r>
              <a:rPr lang="en-US" b="true" sz="1926">
                <a:solidFill>
                  <a:srgbClr val="3E67C8"/>
                </a:solidFill>
                <a:latin typeface="Montserrat Bold"/>
                <a:ea typeface="Montserrat Bold"/>
                <a:cs typeface="Montserrat Bold"/>
                <a:sym typeface="Montserrat Bold"/>
              </a:rPr>
              <a:t>​</a:t>
            </a:r>
          </a:p>
        </p:txBody>
      </p:sp>
      <p:sp>
        <p:nvSpPr>
          <p:cNvPr name="TextBox 20" id="20"/>
          <p:cNvSpPr txBox="true"/>
          <p:nvPr/>
        </p:nvSpPr>
        <p:spPr>
          <a:xfrm rot="0">
            <a:off x="3874547" y="4156389"/>
            <a:ext cx="3619351" cy="435080"/>
          </a:xfrm>
          <a:prstGeom prst="rect">
            <a:avLst/>
          </a:prstGeom>
        </p:spPr>
        <p:txBody>
          <a:bodyPr anchor="t" rtlCol="false" tIns="0" lIns="0" bIns="0" rIns="0">
            <a:spAutoFit/>
          </a:bodyPr>
          <a:lstStyle/>
          <a:p>
            <a:pPr algn="ctr">
              <a:lnSpc>
                <a:spcPts val="3319"/>
              </a:lnSpc>
              <a:spcBef>
                <a:spcPct val="0"/>
              </a:spcBef>
            </a:pPr>
            <a:r>
              <a:rPr lang="en-US" b="true" sz="2370">
                <a:solidFill>
                  <a:srgbClr val="000000"/>
                </a:solidFill>
                <a:latin typeface="Poppins Medium"/>
                <a:ea typeface="Poppins Medium"/>
                <a:cs typeface="Poppins Medium"/>
                <a:sym typeface="Poppins Medium"/>
              </a:rPr>
              <a:t>Initializing the Quadtree</a:t>
            </a:r>
          </a:p>
        </p:txBody>
      </p:sp>
      <p:sp>
        <p:nvSpPr>
          <p:cNvPr name="TextBox 21" id="21"/>
          <p:cNvSpPr txBox="true"/>
          <p:nvPr/>
        </p:nvSpPr>
        <p:spPr>
          <a:xfrm rot="0">
            <a:off x="1450323" y="6865681"/>
            <a:ext cx="8467799" cy="945620"/>
          </a:xfrm>
          <a:prstGeom prst="rect">
            <a:avLst/>
          </a:prstGeom>
        </p:spPr>
        <p:txBody>
          <a:bodyPr anchor="t" rtlCol="false" tIns="0" lIns="0" bIns="0" rIns="0">
            <a:spAutoFit/>
          </a:bodyPr>
          <a:lstStyle/>
          <a:p>
            <a:pPr algn="just">
              <a:lnSpc>
                <a:spcPts val="2479"/>
              </a:lnSpc>
              <a:spcBef>
                <a:spcPct val="0"/>
              </a:spcBef>
            </a:pPr>
            <a:r>
              <a:rPr lang="en-US" b="true" sz="1770">
                <a:solidFill>
                  <a:srgbClr val="000000"/>
                </a:solidFill>
                <a:latin typeface="Poppins Medium"/>
                <a:ea typeface="Poppins Medium"/>
                <a:cs typeface="Poppins Medium"/>
                <a:sym typeface="Poppins Medium"/>
              </a:rPr>
              <a:t>GQTBounds: Represents a rectangular bounding box in 2D space.</a:t>
            </a:r>
          </a:p>
          <a:p>
            <a:pPr algn="just">
              <a:lnSpc>
                <a:spcPts val="2479"/>
              </a:lnSpc>
              <a:spcBef>
                <a:spcPct val="0"/>
              </a:spcBef>
            </a:pPr>
            <a:r>
              <a:rPr lang="en-US" b="true" sz="1770">
                <a:solidFill>
                  <a:srgbClr val="000000"/>
                </a:solidFill>
                <a:latin typeface="Poppins Medium"/>
                <a:ea typeface="Poppins Medium"/>
                <a:cs typeface="Poppins Medium"/>
                <a:sym typeface="Poppins Medium"/>
              </a:rPr>
              <a:t>GQTPointQuadTree: A class representing a quadtree, initialized with a defined spatial boundary.</a:t>
            </a:r>
          </a:p>
        </p:txBody>
      </p:sp>
      <p:sp>
        <p:nvSpPr>
          <p:cNvPr name="TextBox 22" id="22"/>
          <p:cNvSpPr txBox="true"/>
          <p:nvPr/>
        </p:nvSpPr>
        <p:spPr>
          <a:xfrm rot="0">
            <a:off x="12203620" y="4156389"/>
            <a:ext cx="4566345" cy="435080"/>
          </a:xfrm>
          <a:prstGeom prst="rect">
            <a:avLst/>
          </a:prstGeom>
        </p:spPr>
        <p:txBody>
          <a:bodyPr anchor="t" rtlCol="false" tIns="0" lIns="0" bIns="0" rIns="0">
            <a:spAutoFit/>
          </a:bodyPr>
          <a:lstStyle/>
          <a:p>
            <a:pPr algn="ctr">
              <a:lnSpc>
                <a:spcPts val="3319"/>
              </a:lnSpc>
              <a:spcBef>
                <a:spcPct val="0"/>
              </a:spcBef>
            </a:pPr>
            <a:r>
              <a:rPr lang="en-US" b="true" sz="2370">
                <a:solidFill>
                  <a:srgbClr val="000000"/>
                </a:solidFill>
                <a:latin typeface="Poppins Medium"/>
                <a:ea typeface="Poppins Medium"/>
                <a:cs typeface="Poppins Medium"/>
                <a:sym typeface="Poppins Medium"/>
              </a:rPr>
              <a:t>Adding Points to the Quadtree</a:t>
            </a:r>
          </a:p>
        </p:txBody>
      </p:sp>
      <p:sp>
        <p:nvSpPr>
          <p:cNvPr name="TextBox 23" id="23"/>
          <p:cNvSpPr txBox="true"/>
          <p:nvPr/>
        </p:nvSpPr>
        <p:spPr>
          <a:xfrm rot="0">
            <a:off x="10800197" y="6875206"/>
            <a:ext cx="7271373" cy="826874"/>
          </a:xfrm>
          <a:prstGeom prst="rect">
            <a:avLst/>
          </a:prstGeom>
        </p:spPr>
        <p:txBody>
          <a:bodyPr anchor="t" rtlCol="false" tIns="0" lIns="0" bIns="0" rIns="0">
            <a:spAutoFit/>
          </a:bodyPr>
          <a:lstStyle/>
          <a:p>
            <a:pPr algn="just">
              <a:lnSpc>
                <a:spcPts val="2199"/>
              </a:lnSpc>
              <a:spcBef>
                <a:spcPct val="0"/>
              </a:spcBef>
            </a:pPr>
            <a:r>
              <a:rPr lang="en-US" b="true" sz="1570">
                <a:solidFill>
                  <a:srgbClr val="000000"/>
                </a:solidFill>
                <a:latin typeface="Poppins Medium"/>
                <a:ea typeface="Poppins Medium"/>
                <a:cs typeface="Poppins Medium"/>
                <a:sym typeface="Poppins Medium"/>
              </a:rPr>
              <a:t>GQTPoint: Represents a point in 2D space with coordinates(x, y).</a:t>
            </a:r>
          </a:p>
          <a:p>
            <a:pPr algn="just">
              <a:lnSpc>
                <a:spcPts val="2199"/>
              </a:lnSpc>
              <a:spcBef>
                <a:spcPct val="0"/>
              </a:spcBef>
            </a:pPr>
            <a:r>
              <a:rPr lang="en-US" b="true" sz="1570">
                <a:solidFill>
                  <a:srgbClr val="000000"/>
                </a:solidFill>
                <a:latin typeface="Poppins Medium"/>
                <a:ea typeface="Poppins Medium"/>
                <a:cs typeface="Poppins Medium"/>
                <a:sym typeface="Poppins Medium"/>
              </a:rPr>
              <a:t>QuadTreeItem: A custom class conforming to the GQTPointQuadTreeItem protocol, representing an item in the quadtree.</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68208" y="91602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Freeform 10" id="10"/>
          <p:cNvSpPr/>
          <p:nvPr/>
        </p:nvSpPr>
        <p:spPr>
          <a:xfrm flipH="false" flipV="false" rot="0">
            <a:off x="15972386" y="8580836"/>
            <a:ext cx="2099184" cy="1354928"/>
          </a:xfrm>
          <a:custGeom>
            <a:avLst/>
            <a:gdLst/>
            <a:ahLst/>
            <a:cxnLst/>
            <a:rect r="r" b="b" t="t" l="l"/>
            <a:pathLst>
              <a:path h="1354928" w="2099184">
                <a:moveTo>
                  <a:pt x="0" y="0"/>
                </a:moveTo>
                <a:lnTo>
                  <a:pt x="2099184" y="0"/>
                </a:lnTo>
                <a:lnTo>
                  <a:pt x="2099184" y="1354928"/>
                </a:lnTo>
                <a:lnTo>
                  <a:pt x="0" y="13549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375321" y="3778738"/>
            <a:ext cx="8999364" cy="1448295"/>
          </a:xfrm>
          <a:custGeom>
            <a:avLst/>
            <a:gdLst/>
            <a:ahLst/>
            <a:cxnLst/>
            <a:rect r="r" b="b" t="t" l="l"/>
            <a:pathLst>
              <a:path h="1448295" w="8999364">
                <a:moveTo>
                  <a:pt x="0" y="0"/>
                </a:moveTo>
                <a:lnTo>
                  <a:pt x="8999364" y="0"/>
                </a:lnTo>
                <a:lnTo>
                  <a:pt x="8999364" y="1448294"/>
                </a:lnTo>
                <a:lnTo>
                  <a:pt x="0" y="1448294"/>
                </a:lnTo>
                <a:lnTo>
                  <a:pt x="0" y="0"/>
                </a:lnTo>
                <a:close/>
              </a:path>
            </a:pathLst>
          </a:custGeom>
          <a:blipFill>
            <a:blip r:embed="rId5"/>
            <a:stretch>
              <a:fillRect l="0" t="0" r="-9687" b="-17571"/>
            </a:stretch>
          </a:blipFill>
          <a:ln w="76200" cap="sq">
            <a:gradFill>
              <a:gsLst>
                <a:gs pos="0">
                  <a:srgbClr val="006CCD">
                    <a:alpha val="100000"/>
                  </a:srgbClr>
                </a:gs>
                <a:gs pos="50000">
                  <a:srgbClr val="AF5ABB">
                    <a:alpha val="97000"/>
                  </a:srgbClr>
                </a:gs>
                <a:gs pos="100000">
                  <a:srgbClr val="F5AEFF">
                    <a:alpha val="0"/>
                  </a:srgbClr>
                </a:gs>
              </a:gsLst>
              <a:lin ang="0"/>
            </a:gradFill>
            <a:prstDash val="solid"/>
            <a:miter/>
          </a:ln>
        </p:spPr>
      </p:sp>
      <p:sp>
        <p:nvSpPr>
          <p:cNvPr name="TextBox 12" id="12"/>
          <p:cNvSpPr txBox="true"/>
          <p:nvPr/>
        </p:nvSpPr>
        <p:spPr>
          <a:xfrm rot="0">
            <a:off x="1164409" y="601462"/>
            <a:ext cx="2856888"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3" id="13"/>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15</a:t>
            </a:r>
          </a:p>
        </p:txBody>
      </p:sp>
      <p:sp>
        <p:nvSpPr>
          <p:cNvPr name="TextBox 14" id="14"/>
          <p:cNvSpPr txBox="true"/>
          <p:nvPr/>
        </p:nvSpPr>
        <p:spPr>
          <a:xfrm rot="0">
            <a:off x="1991129" y="1291322"/>
            <a:ext cx="13300757" cy="1716579"/>
          </a:xfrm>
          <a:prstGeom prst="rect">
            <a:avLst/>
          </a:prstGeom>
        </p:spPr>
        <p:txBody>
          <a:bodyPr anchor="t" rtlCol="false" tIns="0" lIns="0" bIns="0" rIns="0">
            <a:spAutoFit/>
          </a:bodyPr>
          <a:lstStyle/>
          <a:p>
            <a:pPr algn="ctr">
              <a:lnSpc>
                <a:spcPts val="6506"/>
              </a:lnSpc>
            </a:pPr>
            <a:r>
              <a:rPr lang="en-US" b="true" sz="7310">
                <a:solidFill>
                  <a:srgbClr val="3E67C8"/>
                </a:solidFill>
                <a:latin typeface="Montserrat Ultra-Bold"/>
                <a:ea typeface="Montserrat Ultra-Bold"/>
                <a:cs typeface="Montserrat Ultra-Bold"/>
                <a:sym typeface="Montserrat Ultra-Bold"/>
              </a:rPr>
              <a:t>How Quadtree Works in the SDK</a:t>
            </a:r>
          </a:p>
        </p:txBody>
      </p:sp>
      <p:sp>
        <p:nvSpPr>
          <p:cNvPr name="TextBox 15" id="15"/>
          <p:cNvSpPr txBox="true"/>
          <p:nvPr/>
        </p:nvSpPr>
        <p:spPr>
          <a:xfrm rot="0">
            <a:off x="5907311" y="3200783"/>
            <a:ext cx="5468392" cy="435080"/>
          </a:xfrm>
          <a:prstGeom prst="rect">
            <a:avLst/>
          </a:prstGeom>
        </p:spPr>
        <p:txBody>
          <a:bodyPr anchor="t" rtlCol="false" tIns="0" lIns="0" bIns="0" rIns="0">
            <a:spAutoFit/>
          </a:bodyPr>
          <a:lstStyle/>
          <a:p>
            <a:pPr algn="ctr">
              <a:lnSpc>
                <a:spcPts val="3319"/>
              </a:lnSpc>
              <a:spcBef>
                <a:spcPct val="0"/>
              </a:spcBef>
            </a:pPr>
            <a:r>
              <a:rPr lang="en-US" b="true" sz="2370">
                <a:solidFill>
                  <a:srgbClr val="000000"/>
                </a:solidFill>
                <a:latin typeface="Poppins Medium"/>
                <a:ea typeface="Poppins Medium"/>
                <a:cs typeface="Poppins Medium"/>
                <a:sym typeface="Poppins Medium"/>
              </a:rPr>
              <a:t>Searchi</a:t>
            </a:r>
            <a:r>
              <a:rPr lang="en-US" b="true" sz="2370">
                <a:solidFill>
                  <a:srgbClr val="000000"/>
                </a:solidFill>
                <a:latin typeface="Poppins Medium"/>
                <a:ea typeface="Poppins Medium"/>
                <a:cs typeface="Poppins Medium"/>
                <a:sym typeface="Poppins Medium"/>
              </a:rPr>
              <a:t>ng for Points in the Quadtree</a:t>
            </a:r>
          </a:p>
        </p:txBody>
      </p:sp>
      <p:sp>
        <p:nvSpPr>
          <p:cNvPr name="TextBox 16" id="16"/>
          <p:cNvSpPr txBox="true"/>
          <p:nvPr/>
        </p:nvSpPr>
        <p:spPr>
          <a:xfrm rot="0">
            <a:off x="4375321" y="5446107"/>
            <a:ext cx="8467799" cy="1259945"/>
          </a:xfrm>
          <a:prstGeom prst="rect">
            <a:avLst/>
          </a:prstGeom>
        </p:spPr>
        <p:txBody>
          <a:bodyPr anchor="t" rtlCol="false" tIns="0" lIns="0" bIns="0" rIns="0">
            <a:spAutoFit/>
          </a:bodyPr>
          <a:lstStyle/>
          <a:p>
            <a:pPr algn="just" marL="382334" indent="-191167" lvl="1">
              <a:lnSpc>
                <a:spcPts val="2479"/>
              </a:lnSpc>
              <a:spcBef>
                <a:spcPct val="0"/>
              </a:spcBef>
              <a:buFont typeface="Arial"/>
              <a:buChar char="•"/>
            </a:pPr>
            <a:r>
              <a:rPr lang="en-US" b="true" sz="1770">
                <a:solidFill>
                  <a:srgbClr val="000000"/>
                </a:solidFill>
                <a:latin typeface="Poppins Medium"/>
                <a:ea typeface="Poppins Medium"/>
                <a:cs typeface="Poppins Medium"/>
                <a:sym typeface="Poppins Medium"/>
              </a:rPr>
              <a:t>search</a:t>
            </a:r>
            <a:r>
              <a:rPr lang="en-US" b="true" sz="1770">
                <a:solidFill>
                  <a:srgbClr val="000000"/>
                </a:solidFill>
                <a:latin typeface="Poppins Medium"/>
                <a:ea typeface="Poppins Medium"/>
                <a:cs typeface="Poppins Medium"/>
                <a:sym typeface="Poppins Medium"/>
              </a:rPr>
              <a:t>Bounds: A rectangular bounding box used to query points.</a:t>
            </a:r>
          </a:p>
          <a:p>
            <a:pPr algn="just" marL="382334" indent="-191167" lvl="1">
              <a:lnSpc>
                <a:spcPts val="2479"/>
              </a:lnSpc>
              <a:spcBef>
                <a:spcPct val="0"/>
              </a:spcBef>
              <a:buFont typeface="Arial"/>
              <a:buChar char="•"/>
            </a:pPr>
            <a:r>
              <a:rPr lang="en-US" b="true" sz="1770">
                <a:solidFill>
                  <a:srgbClr val="000000"/>
                </a:solidFill>
                <a:latin typeface="Poppins Medium"/>
                <a:ea typeface="Poppins Medium"/>
                <a:cs typeface="Poppins Medium"/>
                <a:sym typeface="Poppins Medium"/>
              </a:rPr>
              <a:t>tree.search(with:): A method that returns all points within the search region.</a:t>
            </a:r>
          </a:p>
          <a:p>
            <a:pPr algn="just">
              <a:lnSpc>
                <a:spcPts val="2479"/>
              </a:lnSpc>
              <a:spcBef>
                <a:spcPct val="0"/>
              </a:spcBef>
            </a:pP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the University of Science (Ho Chi Minh City)</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Finding Nearby Restaurants Near </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6" id="16"/>
          <p:cNvGrpSpPr/>
          <p:nvPr/>
        </p:nvGrpSpPr>
        <p:grpSpPr>
          <a:xfrm rot="0">
            <a:off x="9618682" y="3680107"/>
            <a:ext cx="7948761" cy="4719154"/>
            <a:chOff x="0" y="0"/>
            <a:chExt cx="1877523" cy="1114679"/>
          </a:xfrm>
        </p:grpSpPr>
        <p:sp>
          <p:nvSpPr>
            <p:cNvPr name="Freeform 17" id="17"/>
            <p:cNvSpPr/>
            <p:nvPr/>
          </p:nvSpPr>
          <p:spPr>
            <a:xfrm flipH="false" flipV="false" rot="0">
              <a:off x="0" y="0"/>
              <a:ext cx="1877523" cy="1114679"/>
            </a:xfrm>
            <a:custGeom>
              <a:avLst/>
              <a:gdLst/>
              <a:ahLst/>
              <a:cxnLst/>
              <a:rect r="r" b="b" t="t" l="l"/>
              <a:pathLst>
                <a:path h="1114679" w="1877523">
                  <a:moveTo>
                    <a:pt x="22401" y="0"/>
                  </a:moveTo>
                  <a:lnTo>
                    <a:pt x="1855121" y="0"/>
                  </a:lnTo>
                  <a:cubicBezTo>
                    <a:pt x="1861063" y="0"/>
                    <a:pt x="1866761" y="2360"/>
                    <a:pt x="1870962" y="6561"/>
                  </a:cubicBezTo>
                  <a:cubicBezTo>
                    <a:pt x="1875163" y="10762"/>
                    <a:pt x="1877523" y="16460"/>
                    <a:pt x="1877523" y="22401"/>
                  </a:cubicBezTo>
                  <a:lnTo>
                    <a:pt x="1877523" y="1092278"/>
                  </a:lnTo>
                  <a:cubicBezTo>
                    <a:pt x="1877523" y="1104650"/>
                    <a:pt x="1867494" y="1114679"/>
                    <a:pt x="1855121" y="1114679"/>
                  </a:cubicBezTo>
                  <a:lnTo>
                    <a:pt x="22401" y="1114679"/>
                  </a:lnTo>
                  <a:cubicBezTo>
                    <a:pt x="16460" y="1114679"/>
                    <a:pt x="10762" y="1112319"/>
                    <a:pt x="6561" y="1108118"/>
                  </a:cubicBezTo>
                  <a:cubicBezTo>
                    <a:pt x="2360" y="1103917"/>
                    <a:pt x="0" y="1098219"/>
                    <a:pt x="0" y="1092278"/>
                  </a:cubicBezTo>
                  <a:lnTo>
                    <a:pt x="0" y="22401"/>
                  </a:lnTo>
                  <a:cubicBezTo>
                    <a:pt x="0" y="16460"/>
                    <a:pt x="2360" y="10762"/>
                    <a:pt x="6561" y="6561"/>
                  </a:cubicBezTo>
                  <a:cubicBezTo>
                    <a:pt x="10762" y="2360"/>
                    <a:pt x="16460" y="0"/>
                    <a:pt x="22401" y="0"/>
                  </a:cubicBezTo>
                  <a:close/>
                </a:path>
              </a:pathLst>
            </a:custGeom>
            <a:blipFill>
              <a:blip r:embed="rId4"/>
              <a:stretch>
                <a:fillRect l="0" t="-6110" r="0" b="-6110"/>
              </a:stretch>
            </a:blipFill>
            <a:ln w="76200" cap="rnd">
              <a:gradFill>
                <a:gsLst>
                  <a:gs pos="0">
                    <a:srgbClr val="006CCD">
                      <a:alpha val="100000"/>
                    </a:srgbClr>
                  </a:gs>
                  <a:gs pos="100000">
                    <a:srgbClr val="F5AEFF">
                      <a:alpha val="0"/>
                    </a:srgbClr>
                  </a:gs>
                </a:gsLst>
                <a:lin ang="0"/>
              </a:gradFill>
              <a:prstDash val="solid"/>
              <a:round/>
            </a:ln>
          </p:spPr>
        </p:sp>
      </p:grpSp>
      <p:sp>
        <p:nvSpPr>
          <p:cNvPr name="TextBox 18" id="18"/>
          <p:cNvSpPr txBox="true"/>
          <p:nvPr/>
        </p:nvSpPr>
        <p:spPr>
          <a:xfrm rot="0">
            <a:off x="1028700" y="532301"/>
            <a:ext cx="3045097"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9" id="19"/>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16</a:t>
            </a:r>
          </a:p>
        </p:txBody>
      </p:sp>
      <p:sp>
        <p:nvSpPr>
          <p:cNvPr name="TextBox 20" id="20"/>
          <p:cNvSpPr txBox="true"/>
          <p:nvPr/>
        </p:nvSpPr>
        <p:spPr>
          <a:xfrm rot="0">
            <a:off x="1858150" y="3403882"/>
            <a:ext cx="6777409" cy="4977218"/>
          </a:xfrm>
          <a:prstGeom prst="rect">
            <a:avLst/>
          </a:prstGeom>
        </p:spPr>
        <p:txBody>
          <a:bodyPr anchor="t" rtlCol="false" tIns="0" lIns="0" bIns="0" rIns="0">
            <a:spAutoFit/>
          </a:bodyPr>
          <a:lstStyle/>
          <a:p>
            <a:pPr algn="l">
              <a:lnSpc>
                <a:spcPts val="5744"/>
              </a:lnSpc>
            </a:pPr>
            <a:r>
              <a:rPr lang="en-US" sz="2383" b="true">
                <a:solidFill>
                  <a:srgbClr val="3E67C8"/>
                </a:solidFill>
                <a:latin typeface="Montserrat Bold"/>
                <a:ea typeface="Montserrat Bold"/>
                <a:cs typeface="Montserrat Bold"/>
                <a:sym typeface="Montserrat Bold"/>
              </a:rPr>
              <a:t>We developed a visualization program to demonstrate quadtree search operations. I inserted approximately </a:t>
            </a:r>
            <a:r>
              <a:rPr lang="en-US" b="true" sz="2383" u="sng">
                <a:solidFill>
                  <a:srgbClr val="3E67C8"/>
                </a:solidFill>
                <a:latin typeface="Montserrat Bold"/>
                <a:ea typeface="Montserrat Bold"/>
                <a:cs typeface="Montserrat Bold"/>
                <a:sym typeface="Montserrat Bold"/>
              </a:rPr>
              <a:t>1,000 </a:t>
            </a:r>
            <a:r>
              <a:rPr lang="en-US" sz="2383" b="true">
                <a:solidFill>
                  <a:srgbClr val="3E67C8"/>
                </a:solidFill>
                <a:latin typeface="Montserrat Bold"/>
                <a:ea typeface="Montserrat Bold"/>
                <a:cs typeface="Montserrat Bold"/>
                <a:sym typeface="Montserrat Bold"/>
              </a:rPr>
              <a:t>restaurants across Ho Chi Minh City and then searched for the closest restaurant to the University of Science. The results are as follows:</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the University of Science (Ho Chi Minh City)</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Finding Nearby Restaurants Near </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6" id="16"/>
          <p:cNvGrpSpPr/>
          <p:nvPr/>
        </p:nvGrpSpPr>
        <p:grpSpPr>
          <a:xfrm rot="0">
            <a:off x="2578314" y="2790378"/>
            <a:ext cx="13702731" cy="6901975"/>
            <a:chOff x="0" y="0"/>
            <a:chExt cx="3522489" cy="1774254"/>
          </a:xfrm>
        </p:grpSpPr>
        <p:sp>
          <p:nvSpPr>
            <p:cNvPr name="Freeform 17" id="17"/>
            <p:cNvSpPr/>
            <p:nvPr/>
          </p:nvSpPr>
          <p:spPr>
            <a:xfrm flipH="false" flipV="false" rot="0">
              <a:off x="0" y="0"/>
              <a:ext cx="3522489" cy="1774254"/>
            </a:xfrm>
            <a:custGeom>
              <a:avLst/>
              <a:gdLst/>
              <a:ahLst/>
              <a:cxnLst/>
              <a:rect r="r" b="b" t="t" l="l"/>
              <a:pathLst>
                <a:path h="1774254" w="3522489">
                  <a:moveTo>
                    <a:pt x="12995" y="0"/>
                  </a:moveTo>
                  <a:lnTo>
                    <a:pt x="3509494" y="0"/>
                  </a:lnTo>
                  <a:cubicBezTo>
                    <a:pt x="3512941" y="0"/>
                    <a:pt x="3516246" y="1369"/>
                    <a:pt x="3518683" y="3806"/>
                  </a:cubicBezTo>
                  <a:cubicBezTo>
                    <a:pt x="3521120" y="6243"/>
                    <a:pt x="3522489" y="9548"/>
                    <a:pt x="3522489" y="12995"/>
                  </a:cubicBezTo>
                  <a:lnTo>
                    <a:pt x="3522489" y="1761260"/>
                  </a:lnTo>
                  <a:cubicBezTo>
                    <a:pt x="3522489" y="1768436"/>
                    <a:pt x="3516671" y="1774254"/>
                    <a:pt x="3509494" y="1774254"/>
                  </a:cubicBezTo>
                  <a:lnTo>
                    <a:pt x="12995" y="1774254"/>
                  </a:lnTo>
                  <a:cubicBezTo>
                    <a:pt x="5818" y="1774254"/>
                    <a:pt x="0" y="1768436"/>
                    <a:pt x="0" y="1761260"/>
                  </a:cubicBezTo>
                  <a:lnTo>
                    <a:pt x="0" y="12995"/>
                  </a:lnTo>
                  <a:cubicBezTo>
                    <a:pt x="0" y="5818"/>
                    <a:pt x="5818" y="0"/>
                    <a:pt x="12995" y="0"/>
                  </a:cubicBezTo>
                  <a:close/>
                </a:path>
              </a:pathLst>
            </a:custGeom>
            <a:blipFill>
              <a:blip r:embed="rId4"/>
              <a:stretch>
                <a:fillRect l="0" t="-253" r="0" b="-253"/>
              </a:stretch>
            </a:blipFill>
            <a:ln w="76200" cap="rnd">
              <a:gradFill>
                <a:gsLst>
                  <a:gs pos="0">
                    <a:srgbClr val="006CCD">
                      <a:alpha val="100000"/>
                    </a:srgbClr>
                  </a:gs>
                  <a:gs pos="100000">
                    <a:srgbClr val="F5AEFF">
                      <a:alpha val="0"/>
                    </a:srgbClr>
                  </a:gs>
                </a:gsLst>
                <a:lin ang="0"/>
              </a:gradFill>
              <a:prstDash val="solid"/>
              <a:round/>
            </a:ln>
          </p:spPr>
        </p:sp>
      </p:grpSp>
      <p:sp>
        <p:nvSpPr>
          <p:cNvPr name="TextBox 18" id="18"/>
          <p:cNvSpPr txBox="true"/>
          <p:nvPr/>
        </p:nvSpPr>
        <p:spPr>
          <a:xfrm rot="0">
            <a:off x="1028700" y="532301"/>
            <a:ext cx="2725142"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9" id="19"/>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17</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the University of Science (Ho Chi Minh City)</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Finding Nearby Restaurants Near </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6" id="16"/>
          <p:cNvGrpSpPr/>
          <p:nvPr/>
        </p:nvGrpSpPr>
        <p:grpSpPr>
          <a:xfrm rot="0">
            <a:off x="1978664" y="2790378"/>
            <a:ext cx="7011149" cy="6625518"/>
            <a:chOff x="0" y="0"/>
            <a:chExt cx="1877523" cy="1774254"/>
          </a:xfrm>
        </p:grpSpPr>
        <p:sp>
          <p:nvSpPr>
            <p:cNvPr name="Freeform 17" id="17"/>
            <p:cNvSpPr/>
            <p:nvPr/>
          </p:nvSpPr>
          <p:spPr>
            <a:xfrm flipH="false" flipV="false" rot="0">
              <a:off x="0" y="0"/>
              <a:ext cx="1877523" cy="1774254"/>
            </a:xfrm>
            <a:custGeom>
              <a:avLst/>
              <a:gdLst/>
              <a:ahLst/>
              <a:cxnLst/>
              <a:rect r="r" b="b" t="t" l="l"/>
              <a:pathLst>
                <a:path h="1774254" w="1877523">
                  <a:moveTo>
                    <a:pt x="25397" y="0"/>
                  </a:moveTo>
                  <a:lnTo>
                    <a:pt x="1852126" y="0"/>
                  </a:lnTo>
                  <a:cubicBezTo>
                    <a:pt x="1858862" y="0"/>
                    <a:pt x="1865321" y="2676"/>
                    <a:pt x="1870084" y="7439"/>
                  </a:cubicBezTo>
                  <a:cubicBezTo>
                    <a:pt x="1874847" y="12202"/>
                    <a:pt x="1877523" y="18662"/>
                    <a:pt x="1877523" y="25397"/>
                  </a:cubicBezTo>
                  <a:lnTo>
                    <a:pt x="1877523" y="1748857"/>
                  </a:lnTo>
                  <a:cubicBezTo>
                    <a:pt x="1877523" y="1755593"/>
                    <a:pt x="1874847" y="1762053"/>
                    <a:pt x="1870084" y="1766816"/>
                  </a:cubicBezTo>
                  <a:cubicBezTo>
                    <a:pt x="1865321" y="1771579"/>
                    <a:pt x="1858862" y="1774254"/>
                    <a:pt x="1852126" y="1774254"/>
                  </a:cubicBezTo>
                  <a:lnTo>
                    <a:pt x="25397" y="1774254"/>
                  </a:lnTo>
                  <a:cubicBezTo>
                    <a:pt x="18662" y="1774254"/>
                    <a:pt x="12202" y="1771579"/>
                    <a:pt x="7439" y="1766816"/>
                  </a:cubicBezTo>
                  <a:cubicBezTo>
                    <a:pt x="2676" y="1762053"/>
                    <a:pt x="0" y="1755593"/>
                    <a:pt x="0" y="1748857"/>
                  </a:cubicBezTo>
                  <a:lnTo>
                    <a:pt x="0" y="25397"/>
                  </a:lnTo>
                  <a:cubicBezTo>
                    <a:pt x="0" y="18662"/>
                    <a:pt x="2676" y="12202"/>
                    <a:pt x="7439" y="7439"/>
                  </a:cubicBezTo>
                  <a:cubicBezTo>
                    <a:pt x="12202" y="2676"/>
                    <a:pt x="18662" y="0"/>
                    <a:pt x="25397" y="0"/>
                  </a:cubicBezTo>
                  <a:close/>
                </a:path>
              </a:pathLst>
            </a:custGeom>
            <a:blipFill>
              <a:blip r:embed="rId4"/>
              <a:stretch>
                <a:fillRect l="-291" t="0" r="-291" b="0"/>
              </a:stretch>
            </a:blipFill>
            <a:ln w="76200" cap="rnd">
              <a:gradFill>
                <a:gsLst>
                  <a:gs pos="0">
                    <a:srgbClr val="006CCD">
                      <a:alpha val="100000"/>
                    </a:srgbClr>
                  </a:gs>
                  <a:gs pos="100000">
                    <a:srgbClr val="F5AEFF">
                      <a:alpha val="0"/>
                    </a:srgbClr>
                  </a:gs>
                </a:gsLst>
                <a:lin ang="0"/>
              </a:gradFill>
              <a:prstDash val="solid"/>
              <a:round/>
            </a:ln>
          </p:spPr>
        </p:sp>
      </p:grpSp>
      <p:grpSp>
        <p:nvGrpSpPr>
          <p:cNvPr name="Group 18" id="18"/>
          <p:cNvGrpSpPr/>
          <p:nvPr/>
        </p:nvGrpSpPr>
        <p:grpSpPr>
          <a:xfrm rot="0">
            <a:off x="9961565" y="2508743"/>
            <a:ext cx="7161680" cy="4139916"/>
            <a:chOff x="0" y="0"/>
            <a:chExt cx="1917834" cy="1108633"/>
          </a:xfrm>
        </p:grpSpPr>
        <p:sp>
          <p:nvSpPr>
            <p:cNvPr name="Freeform 19" id="19"/>
            <p:cNvSpPr/>
            <p:nvPr/>
          </p:nvSpPr>
          <p:spPr>
            <a:xfrm flipH="false" flipV="false" rot="0">
              <a:off x="0" y="0"/>
              <a:ext cx="1917834" cy="1108633"/>
            </a:xfrm>
            <a:custGeom>
              <a:avLst/>
              <a:gdLst/>
              <a:ahLst/>
              <a:cxnLst/>
              <a:rect r="r" b="b" t="t" l="l"/>
              <a:pathLst>
                <a:path h="1108633" w="1917834">
                  <a:moveTo>
                    <a:pt x="24863" y="0"/>
                  </a:moveTo>
                  <a:lnTo>
                    <a:pt x="1892971" y="0"/>
                  </a:lnTo>
                  <a:cubicBezTo>
                    <a:pt x="1906702" y="0"/>
                    <a:pt x="1917834" y="11132"/>
                    <a:pt x="1917834" y="24863"/>
                  </a:cubicBezTo>
                  <a:lnTo>
                    <a:pt x="1917834" y="1083769"/>
                  </a:lnTo>
                  <a:cubicBezTo>
                    <a:pt x="1917834" y="1097501"/>
                    <a:pt x="1906702" y="1108633"/>
                    <a:pt x="1892971" y="1108633"/>
                  </a:cubicBezTo>
                  <a:lnTo>
                    <a:pt x="24863" y="1108633"/>
                  </a:lnTo>
                  <a:cubicBezTo>
                    <a:pt x="11132" y="1108633"/>
                    <a:pt x="0" y="1097501"/>
                    <a:pt x="0" y="1083769"/>
                  </a:cubicBezTo>
                  <a:lnTo>
                    <a:pt x="0" y="24863"/>
                  </a:lnTo>
                  <a:cubicBezTo>
                    <a:pt x="0" y="11132"/>
                    <a:pt x="11132" y="0"/>
                    <a:pt x="24863" y="0"/>
                  </a:cubicBezTo>
                  <a:close/>
                </a:path>
              </a:pathLst>
            </a:custGeom>
            <a:blipFill>
              <a:blip r:embed="rId5"/>
              <a:stretch>
                <a:fillRect l="-5185" t="0" r="-5185" b="0"/>
              </a:stretch>
            </a:blipFill>
            <a:ln w="76200" cap="rnd">
              <a:gradFill>
                <a:gsLst>
                  <a:gs pos="0">
                    <a:srgbClr val="006CCD">
                      <a:alpha val="100000"/>
                    </a:srgbClr>
                  </a:gs>
                  <a:gs pos="100000">
                    <a:srgbClr val="F5AEFF">
                      <a:alpha val="0"/>
                    </a:srgbClr>
                  </a:gs>
                </a:gsLst>
                <a:lin ang="0"/>
              </a:gradFill>
              <a:prstDash val="solid"/>
              <a:round/>
            </a:ln>
          </p:spPr>
        </p:sp>
      </p:grpSp>
      <p:grpSp>
        <p:nvGrpSpPr>
          <p:cNvPr name="Group 20" id="20"/>
          <p:cNvGrpSpPr/>
          <p:nvPr/>
        </p:nvGrpSpPr>
        <p:grpSpPr>
          <a:xfrm rot="0">
            <a:off x="9886300" y="6791816"/>
            <a:ext cx="3505574" cy="3495184"/>
            <a:chOff x="0" y="0"/>
            <a:chExt cx="927565" cy="924816"/>
          </a:xfrm>
        </p:grpSpPr>
        <p:sp>
          <p:nvSpPr>
            <p:cNvPr name="Freeform 21" id="21"/>
            <p:cNvSpPr/>
            <p:nvPr/>
          </p:nvSpPr>
          <p:spPr>
            <a:xfrm flipH="false" flipV="false" rot="0">
              <a:off x="0" y="0"/>
              <a:ext cx="927565" cy="924816"/>
            </a:xfrm>
            <a:custGeom>
              <a:avLst/>
              <a:gdLst/>
              <a:ahLst/>
              <a:cxnLst/>
              <a:rect r="r" b="b" t="t" l="l"/>
              <a:pathLst>
                <a:path h="924816" w="927565">
                  <a:moveTo>
                    <a:pt x="50795" y="0"/>
                  </a:moveTo>
                  <a:lnTo>
                    <a:pt x="876770" y="0"/>
                  </a:lnTo>
                  <a:cubicBezTo>
                    <a:pt x="890242" y="0"/>
                    <a:pt x="903161" y="5352"/>
                    <a:pt x="912687" y="14877"/>
                  </a:cubicBezTo>
                  <a:cubicBezTo>
                    <a:pt x="922213" y="24403"/>
                    <a:pt x="927565" y="37323"/>
                    <a:pt x="927565" y="50795"/>
                  </a:cubicBezTo>
                  <a:lnTo>
                    <a:pt x="927565" y="874021"/>
                  </a:lnTo>
                  <a:cubicBezTo>
                    <a:pt x="927565" y="902074"/>
                    <a:pt x="904823" y="924816"/>
                    <a:pt x="876770" y="924816"/>
                  </a:cubicBezTo>
                  <a:lnTo>
                    <a:pt x="50795" y="924816"/>
                  </a:lnTo>
                  <a:cubicBezTo>
                    <a:pt x="22742" y="924816"/>
                    <a:pt x="0" y="902074"/>
                    <a:pt x="0" y="874021"/>
                  </a:cubicBezTo>
                  <a:lnTo>
                    <a:pt x="0" y="50795"/>
                  </a:lnTo>
                  <a:cubicBezTo>
                    <a:pt x="0" y="22742"/>
                    <a:pt x="22742" y="0"/>
                    <a:pt x="50795" y="0"/>
                  </a:cubicBezTo>
                  <a:close/>
                </a:path>
              </a:pathLst>
            </a:custGeom>
            <a:blipFill>
              <a:blip r:embed="rId6"/>
              <a:stretch>
                <a:fillRect l="-23718" t="0" r="-23718" b="0"/>
              </a:stretch>
            </a:blipFill>
            <a:ln w="76200" cap="rnd">
              <a:gradFill>
                <a:gsLst>
                  <a:gs pos="0">
                    <a:srgbClr val="006CCD">
                      <a:alpha val="100000"/>
                    </a:srgbClr>
                  </a:gs>
                  <a:gs pos="100000">
                    <a:srgbClr val="F5AEFF">
                      <a:alpha val="0"/>
                    </a:srgbClr>
                  </a:gs>
                </a:gsLst>
                <a:lin ang="0"/>
              </a:gradFill>
              <a:prstDash val="solid"/>
              <a:round/>
            </a:ln>
          </p:spPr>
        </p:sp>
      </p:grpSp>
      <p:sp>
        <p:nvSpPr>
          <p:cNvPr name="TextBox 22" id="22"/>
          <p:cNvSpPr txBox="true"/>
          <p:nvPr/>
        </p:nvSpPr>
        <p:spPr>
          <a:xfrm rot="0">
            <a:off x="1028700" y="532301"/>
            <a:ext cx="2706321"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23" id="23"/>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18</a:t>
            </a:r>
          </a:p>
        </p:txBody>
      </p:sp>
      <p:grpSp>
        <p:nvGrpSpPr>
          <p:cNvPr name="Group 24" id="24"/>
          <p:cNvGrpSpPr/>
          <p:nvPr/>
        </p:nvGrpSpPr>
        <p:grpSpPr>
          <a:xfrm rot="0">
            <a:off x="13542405" y="6791816"/>
            <a:ext cx="3505574" cy="3495184"/>
            <a:chOff x="0" y="0"/>
            <a:chExt cx="927565" cy="924816"/>
          </a:xfrm>
        </p:grpSpPr>
        <p:sp>
          <p:nvSpPr>
            <p:cNvPr name="Freeform 25" id="25"/>
            <p:cNvSpPr/>
            <p:nvPr/>
          </p:nvSpPr>
          <p:spPr>
            <a:xfrm flipH="false" flipV="false" rot="0">
              <a:off x="0" y="0"/>
              <a:ext cx="927565" cy="924816"/>
            </a:xfrm>
            <a:custGeom>
              <a:avLst/>
              <a:gdLst/>
              <a:ahLst/>
              <a:cxnLst/>
              <a:rect r="r" b="b" t="t" l="l"/>
              <a:pathLst>
                <a:path h="924816" w="927565">
                  <a:moveTo>
                    <a:pt x="50795" y="0"/>
                  </a:moveTo>
                  <a:lnTo>
                    <a:pt x="876770" y="0"/>
                  </a:lnTo>
                  <a:cubicBezTo>
                    <a:pt x="890242" y="0"/>
                    <a:pt x="903161" y="5352"/>
                    <a:pt x="912687" y="14877"/>
                  </a:cubicBezTo>
                  <a:cubicBezTo>
                    <a:pt x="922213" y="24403"/>
                    <a:pt x="927565" y="37323"/>
                    <a:pt x="927565" y="50795"/>
                  </a:cubicBezTo>
                  <a:lnTo>
                    <a:pt x="927565" y="874021"/>
                  </a:lnTo>
                  <a:cubicBezTo>
                    <a:pt x="927565" y="902074"/>
                    <a:pt x="904823" y="924816"/>
                    <a:pt x="876770" y="924816"/>
                  </a:cubicBezTo>
                  <a:lnTo>
                    <a:pt x="50795" y="924816"/>
                  </a:lnTo>
                  <a:cubicBezTo>
                    <a:pt x="22742" y="924816"/>
                    <a:pt x="0" y="902074"/>
                    <a:pt x="0" y="874021"/>
                  </a:cubicBezTo>
                  <a:lnTo>
                    <a:pt x="0" y="50795"/>
                  </a:lnTo>
                  <a:cubicBezTo>
                    <a:pt x="0" y="22742"/>
                    <a:pt x="22742" y="0"/>
                    <a:pt x="50795" y="0"/>
                  </a:cubicBezTo>
                  <a:close/>
                </a:path>
              </a:pathLst>
            </a:custGeom>
            <a:blipFill>
              <a:blip r:embed="rId7"/>
              <a:stretch>
                <a:fillRect l="-2501" t="0" r="-2501" b="0"/>
              </a:stretch>
            </a:blipFill>
            <a:ln w="76200" cap="rnd">
              <a:gradFill>
                <a:gsLst>
                  <a:gs pos="0">
                    <a:srgbClr val="006CCD">
                      <a:alpha val="100000"/>
                    </a:srgbClr>
                  </a:gs>
                  <a:gs pos="100000">
                    <a:srgbClr val="F5AEFF">
                      <a:alpha val="0"/>
                    </a:srgbClr>
                  </a:gs>
                </a:gsLst>
                <a:lin ang="0"/>
              </a:gradFill>
              <a:prstDash val="solid"/>
              <a:round/>
            </a:ln>
          </p:spPr>
        </p:sp>
      </p:gr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the University of Science (Ho Chi Minh City)</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Finding Nearby Restaurants Near </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grpSp>
        <p:nvGrpSpPr>
          <p:cNvPr name="Group 16" id="16"/>
          <p:cNvGrpSpPr/>
          <p:nvPr/>
        </p:nvGrpSpPr>
        <p:grpSpPr>
          <a:xfrm rot="0">
            <a:off x="6658691" y="2638540"/>
            <a:ext cx="5592218" cy="6777356"/>
            <a:chOff x="0" y="0"/>
            <a:chExt cx="1877523" cy="2275420"/>
          </a:xfrm>
        </p:grpSpPr>
        <p:sp>
          <p:nvSpPr>
            <p:cNvPr name="Freeform 17" id="17"/>
            <p:cNvSpPr/>
            <p:nvPr/>
          </p:nvSpPr>
          <p:spPr>
            <a:xfrm flipH="false" flipV="false" rot="0">
              <a:off x="0" y="0"/>
              <a:ext cx="1877523" cy="2275420"/>
            </a:xfrm>
            <a:custGeom>
              <a:avLst/>
              <a:gdLst/>
              <a:ahLst/>
              <a:cxnLst/>
              <a:rect r="r" b="b" t="t" l="l"/>
              <a:pathLst>
                <a:path h="2275420" w="1877523">
                  <a:moveTo>
                    <a:pt x="31841" y="0"/>
                  </a:moveTo>
                  <a:lnTo>
                    <a:pt x="1845682" y="0"/>
                  </a:lnTo>
                  <a:cubicBezTo>
                    <a:pt x="1854126" y="0"/>
                    <a:pt x="1862225" y="3355"/>
                    <a:pt x="1868197" y="9326"/>
                  </a:cubicBezTo>
                  <a:cubicBezTo>
                    <a:pt x="1874168" y="15298"/>
                    <a:pt x="1877523" y="23397"/>
                    <a:pt x="1877523" y="31841"/>
                  </a:cubicBezTo>
                  <a:lnTo>
                    <a:pt x="1877523" y="2243578"/>
                  </a:lnTo>
                  <a:cubicBezTo>
                    <a:pt x="1877523" y="2261164"/>
                    <a:pt x="1863267" y="2275420"/>
                    <a:pt x="1845682" y="2275420"/>
                  </a:cubicBezTo>
                  <a:lnTo>
                    <a:pt x="31841" y="2275420"/>
                  </a:lnTo>
                  <a:cubicBezTo>
                    <a:pt x="23397" y="2275420"/>
                    <a:pt x="15298" y="2272065"/>
                    <a:pt x="9326" y="2266093"/>
                  </a:cubicBezTo>
                  <a:cubicBezTo>
                    <a:pt x="3355" y="2260122"/>
                    <a:pt x="0" y="2252023"/>
                    <a:pt x="0" y="2243578"/>
                  </a:cubicBezTo>
                  <a:lnTo>
                    <a:pt x="0" y="31841"/>
                  </a:lnTo>
                  <a:cubicBezTo>
                    <a:pt x="0" y="23397"/>
                    <a:pt x="3355" y="15298"/>
                    <a:pt x="9326" y="9326"/>
                  </a:cubicBezTo>
                  <a:cubicBezTo>
                    <a:pt x="15298" y="3355"/>
                    <a:pt x="23397" y="0"/>
                    <a:pt x="31841" y="0"/>
                  </a:cubicBezTo>
                  <a:close/>
                </a:path>
              </a:pathLst>
            </a:custGeom>
            <a:blipFill>
              <a:blip r:embed="rId4"/>
              <a:stretch>
                <a:fillRect l="0" t="-6232" r="0" b="-6232"/>
              </a:stretch>
            </a:blipFill>
            <a:ln w="76200" cap="rnd">
              <a:gradFill>
                <a:gsLst>
                  <a:gs pos="0">
                    <a:srgbClr val="006CCD">
                      <a:alpha val="100000"/>
                    </a:srgbClr>
                  </a:gs>
                  <a:gs pos="100000">
                    <a:srgbClr val="F5AEFF">
                      <a:alpha val="0"/>
                    </a:srgbClr>
                  </a:gs>
                </a:gsLst>
                <a:lin ang="0"/>
              </a:gradFill>
              <a:prstDash val="solid"/>
              <a:round/>
            </a:ln>
          </p:spPr>
        </p:sp>
      </p:grpSp>
      <p:sp>
        <p:nvSpPr>
          <p:cNvPr name="TextBox 18" id="18"/>
          <p:cNvSpPr txBox="true"/>
          <p:nvPr/>
        </p:nvSpPr>
        <p:spPr>
          <a:xfrm rot="0">
            <a:off x="1028700" y="532301"/>
            <a:ext cx="2386366"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9" id="19"/>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19</a:t>
            </a:r>
          </a:p>
        </p:txBody>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the University of Science (Ho Chi Minh City)</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Finding Nearby Restaurants Near </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6" id="16"/>
          <p:cNvSpPr/>
          <p:nvPr/>
        </p:nvSpPr>
        <p:spPr>
          <a:xfrm flipH="false" flipV="false" rot="0">
            <a:off x="3058553" y="3705893"/>
            <a:ext cx="12792494" cy="5047582"/>
          </a:xfrm>
          <a:custGeom>
            <a:avLst/>
            <a:gdLst/>
            <a:ahLst/>
            <a:cxnLst/>
            <a:rect r="r" b="b" t="t" l="l"/>
            <a:pathLst>
              <a:path h="5047582" w="12792494">
                <a:moveTo>
                  <a:pt x="0" y="0"/>
                </a:moveTo>
                <a:lnTo>
                  <a:pt x="12792494" y="0"/>
                </a:lnTo>
                <a:lnTo>
                  <a:pt x="12792494" y="5047582"/>
                </a:lnTo>
                <a:lnTo>
                  <a:pt x="0" y="5047582"/>
                </a:lnTo>
                <a:lnTo>
                  <a:pt x="0" y="0"/>
                </a:lnTo>
                <a:close/>
              </a:path>
            </a:pathLst>
          </a:custGeom>
          <a:blipFill>
            <a:blip r:embed="rId4"/>
            <a:stretch>
              <a:fillRect l="0" t="0" r="-528" b="0"/>
            </a:stretch>
          </a:blipFill>
          <a:ln w="76200" cap="rnd">
            <a:gradFill>
              <a:gsLst>
                <a:gs pos="0">
                  <a:srgbClr val="006CCD">
                    <a:alpha val="100000"/>
                  </a:srgbClr>
                </a:gs>
                <a:gs pos="50000">
                  <a:srgbClr val="AF5ABB">
                    <a:alpha val="97000"/>
                  </a:srgbClr>
                </a:gs>
                <a:gs pos="100000">
                  <a:srgbClr val="F5AEFF">
                    <a:alpha val="0"/>
                  </a:srgbClr>
                </a:gs>
              </a:gsLst>
              <a:lin ang="0"/>
            </a:gradFill>
            <a:prstDash val="solid"/>
            <a:round/>
          </a:ln>
        </p:spPr>
      </p:sp>
      <p:sp>
        <p:nvSpPr>
          <p:cNvPr name="TextBox 17" id="17"/>
          <p:cNvSpPr txBox="true"/>
          <p:nvPr/>
        </p:nvSpPr>
        <p:spPr>
          <a:xfrm rot="0">
            <a:off x="1028700" y="532301"/>
            <a:ext cx="2762784"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8" id="18"/>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20</a:t>
            </a:r>
          </a:p>
        </p:txBody>
      </p:sp>
      <p:sp>
        <p:nvSpPr>
          <p:cNvPr name="TextBox 19" id="19"/>
          <p:cNvSpPr txBox="true"/>
          <p:nvPr/>
        </p:nvSpPr>
        <p:spPr>
          <a:xfrm rot="0">
            <a:off x="1767764" y="2613518"/>
            <a:ext cx="16237072" cy="768525"/>
          </a:xfrm>
          <a:prstGeom prst="rect">
            <a:avLst/>
          </a:prstGeom>
        </p:spPr>
        <p:txBody>
          <a:bodyPr anchor="t" rtlCol="false" tIns="0" lIns="0" bIns="0" rIns="0">
            <a:spAutoFit/>
          </a:bodyPr>
          <a:lstStyle/>
          <a:p>
            <a:pPr algn="l">
              <a:lnSpc>
                <a:spcPts val="2946"/>
              </a:lnSpc>
            </a:pPr>
            <a:r>
              <a:rPr lang="en-US" sz="3310" b="true">
                <a:solidFill>
                  <a:srgbClr val="3E67C8"/>
                </a:solidFill>
                <a:latin typeface="Montserrat Semi-Bold"/>
                <a:ea typeface="Montserrat Semi-Bold"/>
                <a:cs typeface="Montserrat Semi-Bold"/>
                <a:sym typeface="Montserrat Semi-Bold"/>
              </a:rPr>
              <a:t>Below is a time complexity comparison between Linear Search and Quadtree Search:</a:t>
            </a:r>
          </a:p>
        </p:txBody>
      </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the University of Science (Ho Chi Minh City)</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Finding Nearby Restaurants Near </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6" id="16"/>
          <p:cNvSpPr txBox="true"/>
          <p:nvPr/>
        </p:nvSpPr>
        <p:spPr>
          <a:xfrm rot="0">
            <a:off x="1028700" y="532301"/>
            <a:ext cx="3195663"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7" id="17"/>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21</a:t>
            </a:r>
          </a:p>
        </p:txBody>
      </p:sp>
      <p:sp>
        <p:nvSpPr>
          <p:cNvPr name="TextBox 18" id="18"/>
          <p:cNvSpPr txBox="true"/>
          <p:nvPr/>
        </p:nvSpPr>
        <p:spPr>
          <a:xfrm rot="0">
            <a:off x="1767764" y="2699243"/>
            <a:ext cx="16237072" cy="4310260"/>
          </a:xfrm>
          <a:prstGeom prst="rect">
            <a:avLst/>
          </a:prstGeom>
        </p:spPr>
        <p:txBody>
          <a:bodyPr anchor="t" rtlCol="false" tIns="0" lIns="0" bIns="0" rIns="0">
            <a:spAutoFit/>
          </a:bodyPr>
          <a:lstStyle/>
          <a:p>
            <a:pPr algn="l">
              <a:lnSpc>
                <a:spcPts val="4279"/>
              </a:lnSpc>
            </a:pPr>
            <a:r>
              <a:rPr lang="en-US" sz="2910" b="true">
                <a:solidFill>
                  <a:srgbClr val="3E67C8"/>
                </a:solidFill>
                <a:latin typeface="Montserrat Semi-Bold"/>
                <a:ea typeface="Montserrat Semi-Bold"/>
                <a:cs typeface="Montserrat Semi-Bold"/>
                <a:sym typeface="Montserrat Semi-Bold"/>
              </a:rPr>
              <a:t>Additional Applications:</a:t>
            </a:r>
          </a:p>
          <a:p>
            <a:pPr algn="l">
              <a:lnSpc>
                <a:spcPts val="4279"/>
              </a:lnSpc>
            </a:pPr>
            <a:r>
              <a:rPr lang="en-US" sz="2910" b="true">
                <a:solidFill>
                  <a:srgbClr val="3E67C8"/>
                </a:solidFill>
                <a:latin typeface="Montserrat Semi-Bold"/>
                <a:ea typeface="Montserrat Semi-Bold"/>
                <a:cs typeface="Montserrat Semi-Bold"/>
                <a:sym typeface="Montserrat Semi-Bold"/>
              </a:rPr>
              <a:t>Beyond spatial searches, quadtrees have various other applications, including:</a:t>
            </a:r>
          </a:p>
          <a:p>
            <a:pPr algn="l" marL="628467" indent="-314233" lvl="1">
              <a:lnSpc>
                <a:spcPts val="4279"/>
              </a:lnSpc>
              <a:buFont typeface="Arial"/>
              <a:buChar char="•"/>
            </a:pPr>
            <a:r>
              <a:rPr lang="en-US" b="true" sz="2910">
                <a:solidFill>
                  <a:srgbClr val="3E67C8"/>
                </a:solidFill>
                <a:latin typeface="Montserrat Semi-Bold"/>
                <a:ea typeface="Montserrat Semi-Bold"/>
                <a:cs typeface="Montserrat Semi-Bold"/>
                <a:sym typeface="Montserrat Semi-Bold"/>
              </a:rPr>
              <a:t>Image Union/Intersection</a:t>
            </a:r>
          </a:p>
          <a:p>
            <a:pPr algn="l" marL="628467" indent="-314233" lvl="1">
              <a:lnSpc>
                <a:spcPts val="4279"/>
              </a:lnSpc>
              <a:buFont typeface="Arial"/>
              <a:buChar char="•"/>
            </a:pPr>
            <a:r>
              <a:rPr lang="en-US" b="true" sz="2910">
                <a:solidFill>
                  <a:srgbClr val="3E67C8"/>
                </a:solidFill>
                <a:latin typeface="Montserrat Semi-Bold"/>
                <a:ea typeface="Montserrat Semi-Bold"/>
                <a:cs typeface="Montserrat Semi-Bold"/>
                <a:sym typeface="Montserrat Semi-Bold"/>
              </a:rPr>
              <a:t>Connected Component Labeling</a:t>
            </a:r>
          </a:p>
          <a:p>
            <a:pPr algn="l" marL="628467" indent="-314233" lvl="1">
              <a:lnSpc>
                <a:spcPts val="4279"/>
              </a:lnSpc>
              <a:buFont typeface="Arial"/>
              <a:buChar char="•"/>
            </a:pPr>
            <a:r>
              <a:rPr lang="en-US" b="true" sz="2910">
                <a:solidFill>
                  <a:srgbClr val="3E67C8"/>
                </a:solidFill>
                <a:latin typeface="Montserrat Semi-Bold"/>
                <a:ea typeface="Montserrat Semi-Bold"/>
                <a:cs typeface="Montserrat Semi-Bold"/>
                <a:sym typeface="Montserrat Semi-Bold"/>
              </a:rPr>
              <a:t>Mesh Generation Using Quadtrees</a:t>
            </a:r>
          </a:p>
          <a:p>
            <a:pPr algn="l" marL="628467" indent="-314233" lvl="1">
              <a:lnSpc>
                <a:spcPts val="4279"/>
              </a:lnSpc>
              <a:buFont typeface="Arial"/>
              <a:buChar char="•"/>
            </a:pPr>
            <a:r>
              <a:rPr lang="en-US" b="true" sz="2910">
                <a:solidFill>
                  <a:srgbClr val="3E67C8"/>
                </a:solidFill>
                <a:latin typeface="Montserrat Semi-Bold"/>
                <a:ea typeface="Montserrat Semi-Bold"/>
                <a:cs typeface="Montserrat Semi-Bold"/>
                <a:sym typeface="Montserrat Semi-Bold"/>
              </a:rPr>
              <a:t>Collision Detection in game</a:t>
            </a:r>
          </a:p>
          <a:p>
            <a:pPr algn="l">
              <a:lnSpc>
                <a:spcPts val="4279"/>
              </a:lnSpc>
            </a:pPr>
            <a:r>
              <a:rPr lang="en-US" sz="2910" b="true">
                <a:solidFill>
                  <a:srgbClr val="3E67C8"/>
                </a:solidFill>
                <a:latin typeface="Montserrat Semi-Bold"/>
                <a:ea typeface="Montserrat Semi-Bold"/>
                <a:cs typeface="Montserrat Semi-Bold"/>
                <a:sym typeface="Montserrat Semi-Bold"/>
              </a:rPr>
              <a:t>For further exploration, refer to the </a:t>
            </a:r>
            <a:r>
              <a:rPr lang="en-US" b="true" sz="2910" u="sng">
                <a:solidFill>
                  <a:srgbClr val="3E67C8"/>
                </a:solidFill>
                <a:latin typeface="Montserrat Semi-Bold"/>
                <a:ea typeface="Montserrat Semi-Bold"/>
                <a:cs typeface="Montserrat Semi-Bold"/>
                <a:sym typeface="Montserrat Semi-Bold"/>
                <a:hlinkClick r:id="rId4" tooltip="https://en.wikipedia.org/wiki/Quadtree"/>
              </a:rPr>
              <a:t>Wikipedia page on Quadtree</a:t>
            </a:r>
            <a:r>
              <a:rPr lang="en-US" sz="2910" b="true">
                <a:solidFill>
                  <a:srgbClr val="3E67C8"/>
                </a:solidFill>
                <a:latin typeface="Montserrat Semi-Bold"/>
                <a:ea typeface="Montserrat Semi-Bold"/>
                <a:cs typeface="Montserrat Semi-Bold"/>
                <a:sym typeface="Montserrat Semi-Bold"/>
              </a:rPr>
              <a:t>.</a:t>
            </a:r>
          </a:p>
          <a:p>
            <a:pPr algn="l">
              <a:lnSpc>
                <a:spcPts val="4279"/>
              </a:lnSpc>
            </a:pPr>
          </a:p>
        </p:txBody>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Example 1</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Program assignment</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6" id="16"/>
          <p:cNvSpPr txBox="true"/>
          <p:nvPr/>
        </p:nvSpPr>
        <p:spPr>
          <a:xfrm rot="0">
            <a:off x="1767764" y="2699243"/>
            <a:ext cx="12153894" cy="7024885"/>
          </a:xfrm>
          <a:prstGeom prst="rect">
            <a:avLst/>
          </a:prstGeom>
        </p:spPr>
        <p:txBody>
          <a:bodyPr anchor="t" rtlCol="false" tIns="0" lIns="0" bIns="0" rIns="0">
            <a:spAutoFit/>
          </a:bodyPr>
          <a:lstStyle/>
          <a:p>
            <a:pPr algn="just">
              <a:lnSpc>
                <a:spcPts val="4279"/>
              </a:lnSpc>
            </a:pPr>
            <a:r>
              <a:rPr lang="en-US" sz="2910" b="true">
                <a:solidFill>
                  <a:srgbClr val="3E67C8"/>
                </a:solidFill>
                <a:latin typeface="Montserrat Semi-Bold"/>
                <a:ea typeface="Montserrat Semi-Bold"/>
                <a:cs typeface="Montserrat Semi-Bold"/>
                <a:sym typeface="Montserrat Semi-Bold"/>
              </a:rPr>
              <a:t>Given a n * n matrix grid of 0's and 1's only. We want to represent grid with a Quad-Tree.</a:t>
            </a:r>
          </a:p>
          <a:p>
            <a:pPr algn="just">
              <a:lnSpc>
                <a:spcPts val="4279"/>
              </a:lnSpc>
            </a:pPr>
            <a:r>
              <a:rPr lang="en-US" sz="2910" b="true">
                <a:solidFill>
                  <a:srgbClr val="3E67C8"/>
                </a:solidFill>
                <a:latin typeface="Montserrat Semi-Bold"/>
                <a:ea typeface="Montserrat Semi-Bold"/>
                <a:cs typeface="Montserrat Semi-Bold"/>
                <a:sym typeface="Montserrat Semi-Bold"/>
              </a:rPr>
              <a:t>Return the root of the Quad-Tree representing grid.</a:t>
            </a:r>
          </a:p>
          <a:p>
            <a:pPr algn="just">
              <a:lnSpc>
                <a:spcPts val="4279"/>
              </a:lnSpc>
            </a:pPr>
            <a:r>
              <a:rPr lang="en-US" sz="2910" b="true">
                <a:solidFill>
                  <a:srgbClr val="3E67C8"/>
                </a:solidFill>
                <a:latin typeface="Montserrat Semi-Bold"/>
                <a:ea typeface="Montserrat Semi-Bold"/>
                <a:cs typeface="Montserrat Semi-Bold"/>
                <a:sym typeface="Montserrat Semi-Bold"/>
              </a:rPr>
              <a:t>A Quad-Tree is a tree data structure in which each internal node has exactly four children. Besides, each node has two attributes:</a:t>
            </a:r>
          </a:p>
          <a:p>
            <a:pPr algn="just" marL="628467" indent="-314233" lvl="1">
              <a:lnSpc>
                <a:spcPts val="4279"/>
              </a:lnSpc>
              <a:buFont typeface="Arial"/>
              <a:buChar char="•"/>
            </a:pPr>
            <a:r>
              <a:rPr lang="en-US" b="true" sz="2910">
                <a:solidFill>
                  <a:srgbClr val="3E67C8"/>
                </a:solidFill>
                <a:latin typeface="Montserrat Semi-Bold"/>
                <a:ea typeface="Montserrat Semi-Bold"/>
                <a:cs typeface="Montserrat Semi-Bold"/>
                <a:sym typeface="Montserrat Semi-Bold"/>
              </a:rPr>
              <a:t>val: True if the node represents a grid of 1's or False if the node represents a grid of 0's. Notice that you can assign the val to True or False when isLeaf is False, and both are accepted in the answer.</a:t>
            </a:r>
          </a:p>
          <a:p>
            <a:pPr algn="just" marL="628467" indent="-314233" lvl="1">
              <a:lnSpc>
                <a:spcPts val="4279"/>
              </a:lnSpc>
              <a:buFont typeface="Arial"/>
              <a:buChar char="•"/>
            </a:pPr>
            <a:r>
              <a:rPr lang="en-US" b="true" sz="2910">
                <a:solidFill>
                  <a:srgbClr val="3E67C8"/>
                </a:solidFill>
                <a:latin typeface="Montserrat Semi-Bold"/>
                <a:ea typeface="Montserrat Semi-Bold"/>
                <a:cs typeface="Montserrat Semi-Bold"/>
                <a:sym typeface="Montserrat Semi-Bold"/>
              </a:rPr>
              <a:t>isLeaf: True if the no</a:t>
            </a:r>
            <a:r>
              <a:rPr lang="en-US" b="true" sz="2910" u="none">
                <a:solidFill>
                  <a:srgbClr val="3E67C8"/>
                </a:solidFill>
                <a:latin typeface="Montserrat Semi-Bold"/>
                <a:ea typeface="Montserrat Semi-Bold"/>
                <a:cs typeface="Montserrat Semi-Bold"/>
                <a:sym typeface="Montserrat Semi-Bold"/>
              </a:rPr>
              <a:t>d</a:t>
            </a:r>
            <a:r>
              <a:rPr lang="en-US" b="true" sz="2910">
                <a:solidFill>
                  <a:srgbClr val="3E67C8"/>
                </a:solidFill>
                <a:latin typeface="Montserrat Semi-Bold"/>
                <a:ea typeface="Montserrat Semi-Bold"/>
                <a:cs typeface="Montserrat Semi-Bold"/>
                <a:sym typeface="Montserrat Semi-Bold"/>
              </a:rPr>
              <a:t>e </a:t>
            </a:r>
            <a:r>
              <a:rPr lang="en-US" b="true" sz="2910" u="none">
                <a:solidFill>
                  <a:srgbClr val="3E67C8"/>
                </a:solidFill>
                <a:latin typeface="Montserrat Semi-Bold"/>
                <a:ea typeface="Montserrat Semi-Bold"/>
                <a:cs typeface="Montserrat Semi-Bold"/>
                <a:sym typeface="Montserrat Semi-Bold"/>
              </a:rPr>
              <a:t>i</a:t>
            </a:r>
            <a:r>
              <a:rPr lang="en-US" b="true" sz="2910">
                <a:solidFill>
                  <a:srgbClr val="3E67C8"/>
                </a:solidFill>
                <a:latin typeface="Montserrat Semi-Bold"/>
                <a:ea typeface="Montserrat Semi-Bold"/>
                <a:cs typeface="Montserrat Semi-Bold"/>
                <a:sym typeface="Montserrat Semi-Bold"/>
              </a:rPr>
              <a:t>s </a:t>
            </a:r>
            <a:r>
              <a:rPr lang="en-US" b="true" sz="2910" u="none">
                <a:solidFill>
                  <a:srgbClr val="3E67C8"/>
                </a:solidFill>
                <a:latin typeface="Montserrat Semi-Bold"/>
                <a:ea typeface="Montserrat Semi-Bold"/>
                <a:cs typeface="Montserrat Semi-Bold"/>
                <a:sym typeface="Montserrat Semi-Bold"/>
              </a:rPr>
              <a:t>a </a:t>
            </a:r>
            <a:r>
              <a:rPr lang="en-US" b="true" sz="2910">
                <a:solidFill>
                  <a:srgbClr val="3E67C8"/>
                </a:solidFill>
                <a:latin typeface="Montserrat Semi-Bold"/>
                <a:ea typeface="Montserrat Semi-Bold"/>
                <a:cs typeface="Montserrat Semi-Bold"/>
                <a:sym typeface="Montserrat Semi-Bold"/>
              </a:rPr>
              <a:t>le</a:t>
            </a:r>
            <a:r>
              <a:rPr lang="en-US" b="true" sz="2910" u="none">
                <a:solidFill>
                  <a:srgbClr val="3E67C8"/>
                </a:solidFill>
                <a:latin typeface="Montserrat Semi-Bold"/>
                <a:ea typeface="Montserrat Semi-Bold"/>
                <a:cs typeface="Montserrat Semi-Bold"/>
                <a:sym typeface="Montserrat Semi-Bold"/>
              </a:rPr>
              <a:t>a</a:t>
            </a:r>
            <a:r>
              <a:rPr lang="en-US" b="true" sz="2910">
                <a:solidFill>
                  <a:srgbClr val="3E67C8"/>
                </a:solidFill>
                <a:latin typeface="Montserrat Semi-Bold"/>
                <a:ea typeface="Montserrat Semi-Bold"/>
                <a:cs typeface="Montserrat Semi-Bold"/>
                <a:sym typeface="Montserrat Semi-Bold"/>
              </a:rPr>
              <a:t>f nod</a:t>
            </a:r>
            <a:r>
              <a:rPr lang="en-US" b="true" sz="2910" u="none">
                <a:solidFill>
                  <a:srgbClr val="3E67C8"/>
                </a:solidFill>
                <a:latin typeface="Montserrat Semi-Bold"/>
                <a:ea typeface="Montserrat Semi-Bold"/>
                <a:cs typeface="Montserrat Semi-Bold"/>
                <a:sym typeface="Montserrat Semi-Bold"/>
              </a:rPr>
              <a:t>e on </a:t>
            </a:r>
            <a:r>
              <a:rPr lang="en-US" b="true" sz="2910">
                <a:solidFill>
                  <a:srgbClr val="3E67C8"/>
                </a:solidFill>
                <a:latin typeface="Montserrat Semi-Bold"/>
                <a:ea typeface="Montserrat Semi-Bold"/>
                <a:cs typeface="Montserrat Semi-Bold"/>
                <a:sym typeface="Montserrat Semi-Bold"/>
              </a:rPr>
              <a:t>the tree or F</a:t>
            </a:r>
            <a:r>
              <a:rPr lang="en-US" b="true" sz="2910" u="none">
                <a:solidFill>
                  <a:srgbClr val="3E67C8"/>
                </a:solidFill>
                <a:latin typeface="Montserrat Semi-Bold"/>
                <a:ea typeface="Montserrat Semi-Bold"/>
                <a:cs typeface="Montserrat Semi-Bold"/>
                <a:sym typeface="Montserrat Semi-Bold"/>
              </a:rPr>
              <a:t>a</a:t>
            </a:r>
            <a:r>
              <a:rPr lang="en-US" b="true" sz="2910">
                <a:solidFill>
                  <a:srgbClr val="3E67C8"/>
                </a:solidFill>
                <a:latin typeface="Montserrat Semi-Bold"/>
                <a:ea typeface="Montserrat Semi-Bold"/>
                <a:cs typeface="Montserrat Semi-Bold"/>
                <a:sym typeface="Montserrat Semi-Bold"/>
              </a:rPr>
              <a:t>lse if </a:t>
            </a:r>
            <a:r>
              <a:rPr lang="en-US" b="true" sz="2910" u="none">
                <a:solidFill>
                  <a:srgbClr val="3E67C8"/>
                </a:solidFill>
                <a:latin typeface="Montserrat Semi-Bold"/>
                <a:ea typeface="Montserrat Semi-Bold"/>
                <a:cs typeface="Montserrat Semi-Bold"/>
                <a:sym typeface="Montserrat Semi-Bold"/>
              </a:rPr>
              <a:t>t</a:t>
            </a:r>
            <a:r>
              <a:rPr lang="en-US" b="true" sz="2910">
                <a:solidFill>
                  <a:srgbClr val="3E67C8"/>
                </a:solidFill>
                <a:latin typeface="Montserrat Semi-Bold"/>
                <a:ea typeface="Montserrat Semi-Bold"/>
                <a:cs typeface="Montserrat Semi-Bold"/>
                <a:sym typeface="Montserrat Semi-Bold"/>
              </a:rPr>
              <a:t>h</a:t>
            </a:r>
            <a:r>
              <a:rPr lang="en-US" b="true" sz="2910" u="none">
                <a:solidFill>
                  <a:srgbClr val="3E67C8"/>
                </a:solidFill>
                <a:latin typeface="Montserrat Semi-Bold"/>
                <a:ea typeface="Montserrat Semi-Bold"/>
                <a:cs typeface="Montserrat Semi-Bold"/>
                <a:sym typeface="Montserrat Semi-Bold"/>
              </a:rPr>
              <a:t>e</a:t>
            </a:r>
            <a:r>
              <a:rPr lang="en-US" b="true" sz="2910">
                <a:solidFill>
                  <a:srgbClr val="3E67C8"/>
                </a:solidFill>
                <a:latin typeface="Montserrat Semi-Bold"/>
                <a:ea typeface="Montserrat Semi-Bold"/>
                <a:cs typeface="Montserrat Semi-Bold"/>
                <a:sym typeface="Montserrat Semi-Bold"/>
              </a:rPr>
              <a:t> nod</a:t>
            </a:r>
            <a:r>
              <a:rPr lang="en-US" b="true" sz="2910" u="none">
                <a:solidFill>
                  <a:srgbClr val="3E67C8"/>
                </a:solidFill>
                <a:latin typeface="Montserrat Semi-Bold"/>
                <a:ea typeface="Montserrat Semi-Bold"/>
                <a:cs typeface="Montserrat Semi-Bold"/>
                <a:sym typeface="Montserrat Semi-Bold"/>
              </a:rPr>
              <a:t>e</a:t>
            </a:r>
            <a:r>
              <a:rPr lang="en-US" b="true" sz="2910">
                <a:solidFill>
                  <a:srgbClr val="3E67C8"/>
                </a:solidFill>
                <a:latin typeface="Montserrat Semi-Bold"/>
                <a:ea typeface="Montserrat Semi-Bold"/>
                <a:cs typeface="Montserrat Semi-Bold"/>
                <a:sym typeface="Montserrat Semi-Bold"/>
              </a:rPr>
              <a:t> has four children.</a:t>
            </a:r>
          </a:p>
          <a:p>
            <a:pPr algn="just">
              <a:lnSpc>
                <a:spcPts val="4279"/>
              </a:lnSpc>
            </a:pPr>
          </a:p>
        </p:txBody>
      </p:sp>
      <p:sp>
        <p:nvSpPr>
          <p:cNvPr name="Freeform 17" id="17"/>
          <p:cNvSpPr/>
          <p:nvPr/>
        </p:nvSpPr>
        <p:spPr>
          <a:xfrm flipH="false" flipV="false" rot="0">
            <a:off x="14078620" y="3865045"/>
            <a:ext cx="3926216" cy="3035532"/>
          </a:xfrm>
          <a:custGeom>
            <a:avLst/>
            <a:gdLst/>
            <a:ahLst/>
            <a:cxnLst/>
            <a:rect r="r" b="b" t="t" l="l"/>
            <a:pathLst>
              <a:path h="3035532" w="3926216">
                <a:moveTo>
                  <a:pt x="0" y="0"/>
                </a:moveTo>
                <a:lnTo>
                  <a:pt x="3926216" y="0"/>
                </a:lnTo>
                <a:lnTo>
                  <a:pt x="3926216" y="3035532"/>
                </a:lnTo>
                <a:lnTo>
                  <a:pt x="0" y="3035532"/>
                </a:lnTo>
                <a:lnTo>
                  <a:pt x="0" y="0"/>
                </a:lnTo>
                <a:close/>
              </a:path>
            </a:pathLst>
          </a:custGeom>
          <a:blipFill>
            <a:blip r:embed="rId4"/>
            <a:stretch>
              <a:fillRect l="-9359" t="0" r="-232361" b="0"/>
            </a:stretch>
          </a:blipFill>
        </p:spPr>
      </p:sp>
      <p:sp>
        <p:nvSpPr>
          <p:cNvPr name="TextBox 18" id="18"/>
          <p:cNvSpPr txBox="true"/>
          <p:nvPr/>
        </p:nvSpPr>
        <p:spPr>
          <a:xfrm rot="0">
            <a:off x="1028700" y="532301"/>
            <a:ext cx="3195663"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9" id="19"/>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22</a:t>
            </a:r>
          </a:p>
        </p:txBody>
      </p:sp>
      <p:sp>
        <p:nvSpPr>
          <p:cNvPr name="TextBox 20" id="20"/>
          <p:cNvSpPr txBox="true"/>
          <p:nvPr/>
        </p:nvSpPr>
        <p:spPr>
          <a:xfrm rot="0">
            <a:off x="1767764" y="2369336"/>
            <a:ext cx="7687036" cy="383588"/>
          </a:xfrm>
          <a:prstGeom prst="rect">
            <a:avLst/>
          </a:prstGeom>
        </p:spPr>
        <p:txBody>
          <a:bodyPr anchor="t" rtlCol="false" tIns="0" lIns="0" bIns="0" rIns="0">
            <a:spAutoFit/>
          </a:bodyPr>
          <a:lstStyle/>
          <a:p>
            <a:pPr algn="l">
              <a:lnSpc>
                <a:spcPts val="2857"/>
              </a:lnSpc>
            </a:pPr>
            <a:r>
              <a:rPr lang="en-US" b="true" sz="3210" u="sng">
                <a:solidFill>
                  <a:srgbClr val="3E67C8"/>
                </a:solidFill>
                <a:latin typeface="Montserrat Ultra-Bold"/>
                <a:ea typeface="Montserrat Ultra-Bold"/>
                <a:cs typeface="Montserrat Ultra-Bold"/>
                <a:sym typeface="Montserrat Ultra-Bold"/>
                <a:hlinkClick r:id="rId5" tooltip="https://leetcode.com/problems/construct-quad-tree/"/>
              </a:rPr>
              <a:t>Construct Quad Tree</a:t>
            </a:r>
          </a:p>
        </p:txBody>
      </p:sp>
    </p:spTree>
  </p:cSld>
  <p:clrMapOvr>
    <a:masterClrMapping/>
  </p:clrMapOvr>
  <p:transition spd="slow">
    <p:push dir="l"/>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1329736"/>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Example 1</a:t>
            </a:r>
          </a:p>
          <a:p>
            <a:pPr algn="l">
              <a:lnSpc>
                <a:spcPts val="5082"/>
              </a:lnSpc>
            </a:pP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Program assignment</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6" id="16"/>
          <p:cNvSpPr txBox="true"/>
          <p:nvPr/>
        </p:nvSpPr>
        <p:spPr>
          <a:xfrm rot="0">
            <a:off x="1767764" y="2699243"/>
            <a:ext cx="9249696" cy="7024885"/>
          </a:xfrm>
          <a:prstGeom prst="rect">
            <a:avLst/>
          </a:prstGeom>
        </p:spPr>
        <p:txBody>
          <a:bodyPr anchor="t" rtlCol="false" tIns="0" lIns="0" bIns="0" rIns="0">
            <a:spAutoFit/>
          </a:bodyPr>
          <a:lstStyle/>
          <a:p>
            <a:pPr algn="just">
              <a:lnSpc>
                <a:spcPts val="4279"/>
              </a:lnSpc>
            </a:pPr>
            <a:r>
              <a:rPr lang="en-US" sz="2910" b="true">
                <a:solidFill>
                  <a:srgbClr val="3E67C8"/>
                </a:solidFill>
                <a:latin typeface="Montserrat Semi-Bold"/>
                <a:ea typeface="Montserrat Semi-Bold"/>
                <a:cs typeface="Montserrat Semi-Bold"/>
                <a:sym typeface="Montserrat Semi-Bold"/>
              </a:rPr>
              <a:t>We can construct a Quad-Tree from a two-dimensional area using the following steps:</a:t>
            </a:r>
          </a:p>
          <a:p>
            <a:pPr algn="just" marL="628467" indent="-314233" lvl="1">
              <a:lnSpc>
                <a:spcPts val="4279"/>
              </a:lnSpc>
              <a:buAutoNum type="arabicPeriod" startAt="1"/>
            </a:pPr>
            <a:r>
              <a:rPr lang="en-US" b="true" sz="2910">
                <a:solidFill>
                  <a:srgbClr val="3E67C8"/>
                </a:solidFill>
                <a:latin typeface="Montserrat Semi-Bold"/>
                <a:ea typeface="Montserrat Semi-Bold"/>
                <a:cs typeface="Montserrat Semi-Bold"/>
                <a:sym typeface="Montserrat Semi-Bold"/>
              </a:rPr>
              <a:t>If the current grid has the same value (i.e all 1's or all 0's) set isLeaf True and set val to the value of the grid and set the four children to Null and stop.</a:t>
            </a:r>
          </a:p>
          <a:p>
            <a:pPr algn="just" marL="628467" indent="-314233" lvl="1">
              <a:lnSpc>
                <a:spcPts val="4279"/>
              </a:lnSpc>
              <a:buAutoNum type="arabicPeriod" startAt="1"/>
            </a:pPr>
            <a:r>
              <a:rPr lang="en-US" b="true" sz="2910">
                <a:solidFill>
                  <a:srgbClr val="3E67C8"/>
                </a:solidFill>
                <a:latin typeface="Montserrat Semi-Bold"/>
                <a:ea typeface="Montserrat Semi-Bold"/>
                <a:cs typeface="Montserrat Semi-Bold"/>
                <a:sym typeface="Montserrat Semi-Bold"/>
              </a:rPr>
              <a:t>If the current grid has different values, set isLeaf to False and set val to any value and divide the current grid into four sub-grids as shown in the photo.</a:t>
            </a:r>
          </a:p>
          <a:p>
            <a:pPr algn="just" marL="628467" indent="-314233" lvl="1">
              <a:lnSpc>
                <a:spcPts val="4279"/>
              </a:lnSpc>
              <a:buAutoNum type="arabicPeriod" startAt="1"/>
            </a:pPr>
            <a:r>
              <a:rPr lang="en-US" b="true" sz="2910">
                <a:solidFill>
                  <a:srgbClr val="3E67C8"/>
                </a:solidFill>
                <a:latin typeface="Montserrat Semi-Bold"/>
                <a:ea typeface="Montserrat Semi-Bold"/>
                <a:cs typeface="Montserrat Semi-Bold"/>
                <a:sym typeface="Montserrat Semi-Bold"/>
              </a:rPr>
              <a:t>Recurse for</a:t>
            </a:r>
            <a:r>
              <a:rPr lang="en-US" b="true" sz="2910" u="none">
                <a:solidFill>
                  <a:srgbClr val="3E67C8"/>
                </a:solidFill>
                <a:latin typeface="Montserrat Semi-Bold"/>
                <a:ea typeface="Montserrat Semi-Bold"/>
                <a:cs typeface="Montserrat Semi-Bold"/>
                <a:sym typeface="Montserrat Semi-Bold"/>
              </a:rPr>
              <a:t> </a:t>
            </a:r>
            <a:r>
              <a:rPr lang="en-US" b="true" sz="2910">
                <a:solidFill>
                  <a:srgbClr val="3E67C8"/>
                </a:solidFill>
                <a:latin typeface="Montserrat Semi-Bold"/>
                <a:ea typeface="Montserrat Semi-Bold"/>
                <a:cs typeface="Montserrat Semi-Bold"/>
                <a:sym typeface="Montserrat Semi-Bold"/>
              </a:rPr>
              <a:t>e</a:t>
            </a:r>
            <a:r>
              <a:rPr lang="en-US" b="true" sz="2910" u="none">
                <a:solidFill>
                  <a:srgbClr val="3E67C8"/>
                </a:solidFill>
                <a:latin typeface="Montserrat Semi-Bold"/>
                <a:ea typeface="Montserrat Semi-Bold"/>
                <a:cs typeface="Montserrat Semi-Bold"/>
                <a:sym typeface="Montserrat Semi-Bold"/>
              </a:rPr>
              <a:t>ach</a:t>
            </a:r>
            <a:r>
              <a:rPr lang="en-US" b="true" sz="2910">
                <a:solidFill>
                  <a:srgbClr val="3E67C8"/>
                </a:solidFill>
                <a:latin typeface="Montserrat Semi-Bold"/>
                <a:ea typeface="Montserrat Semi-Bold"/>
                <a:cs typeface="Montserrat Semi-Bold"/>
                <a:sym typeface="Montserrat Semi-Bold"/>
              </a:rPr>
              <a:t> of</a:t>
            </a:r>
            <a:r>
              <a:rPr lang="en-US" b="true" sz="2910" u="none">
                <a:solidFill>
                  <a:srgbClr val="3E67C8"/>
                </a:solidFill>
                <a:latin typeface="Montserrat Semi-Bold"/>
                <a:ea typeface="Montserrat Semi-Bold"/>
                <a:cs typeface="Montserrat Semi-Bold"/>
                <a:sym typeface="Montserrat Semi-Bold"/>
              </a:rPr>
              <a:t> </a:t>
            </a:r>
            <a:r>
              <a:rPr lang="en-US" b="true" sz="2910">
                <a:solidFill>
                  <a:srgbClr val="3E67C8"/>
                </a:solidFill>
                <a:latin typeface="Montserrat Semi-Bold"/>
                <a:ea typeface="Montserrat Semi-Bold"/>
                <a:cs typeface="Montserrat Semi-Bold"/>
                <a:sym typeface="Montserrat Semi-Bold"/>
              </a:rPr>
              <a:t>the children with </a:t>
            </a:r>
            <a:r>
              <a:rPr lang="en-US" b="true" sz="2910" u="none">
                <a:solidFill>
                  <a:srgbClr val="3E67C8"/>
                </a:solidFill>
                <a:latin typeface="Montserrat Semi-Bold"/>
                <a:ea typeface="Montserrat Semi-Bold"/>
                <a:cs typeface="Montserrat Semi-Bold"/>
                <a:sym typeface="Montserrat Semi-Bold"/>
              </a:rPr>
              <a:t>t</a:t>
            </a:r>
            <a:r>
              <a:rPr lang="en-US" b="true" sz="2910">
                <a:solidFill>
                  <a:srgbClr val="3E67C8"/>
                </a:solidFill>
                <a:latin typeface="Montserrat Semi-Bold"/>
                <a:ea typeface="Montserrat Semi-Bold"/>
                <a:cs typeface="Montserrat Semi-Bold"/>
                <a:sym typeface="Montserrat Semi-Bold"/>
              </a:rPr>
              <a:t>h</a:t>
            </a:r>
            <a:r>
              <a:rPr lang="en-US" b="true" sz="2910" u="none">
                <a:solidFill>
                  <a:srgbClr val="3E67C8"/>
                </a:solidFill>
                <a:latin typeface="Montserrat Semi-Bold"/>
                <a:ea typeface="Montserrat Semi-Bold"/>
                <a:cs typeface="Montserrat Semi-Bold"/>
                <a:sym typeface="Montserrat Semi-Bold"/>
              </a:rPr>
              <a:t>e</a:t>
            </a:r>
            <a:r>
              <a:rPr lang="en-US" b="true" sz="2910">
                <a:solidFill>
                  <a:srgbClr val="3E67C8"/>
                </a:solidFill>
                <a:latin typeface="Montserrat Semi-Bold"/>
                <a:ea typeface="Montserrat Semi-Bold"/>
                <a:cs typeface="Montserrat Semi-Bold"/>
                <a:sym typeface="Montserrat Semi-Bold"/>
              </a:rPr>
              <a:t> prop</a:t>
            </a:r>
            <a:r>
              <a:rPr lang="en-US" b="true" sz="2910" u="none">
                <a:solidFill>
                  <a:srgbClr val="3E67C8"/>
                </a:solidFill>
                <a:latin typeface="Montserrat Semi-Bold"/>
                <a:ea typeface="Montserrat Semi-Bold"/>
                <a:cs typeface="Montserrat Semi-Bold"/>
                <a:sym typeface="Montserrat Semi-Bold"/>
              </a:rPr>
              <a:t>er</a:t>
            </a:r>
            <a:r>
              <a:rPr lang="en-US" b="true" sz="2910">
                <a:solidFill>
                  <a:srgbClr val="3E67C8"/>
                </a:solidFill>
                <a:latin typeface="Montserrat Semi-Bold"/>
                <a:ea typeface="Montserrat Semi-Bold"/>
                <a:cs typeface="Montserrat Semi-Bold"/>
                <a:sym typeface="Montserrat Semi-Bold"/>
              </a:rPr>
              <a:t> sub-grid.</a:t>
            </a:r>
          </a:p>
          <a:p>
            <a:pPr algn="just">
              <a:lnSpc>
                <a:spcPts val="4279"/>
              </a:lnSpc>
            </a:pPr>
          </a:p>
        </p:txBody>
      </p:sp>
      <p:sp>
        <p:nvSpPr>
          <p:cNvPr name="TextBox 17" id="17"/>
          <p:cNvSpPr txBox="true"/>
          <p:nvPr/>
        </p:nvSpPr>
        <p:spPr>
          <a:xfrm rot="0">
            <a:off x="1028700" y="532301"/>
            <a:ext cx="3195663"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8" id="18"/>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23</a:t>
            </a:r>
          </a:p>
        </p:txBody>
      </p:sp>
      <p:sp>
        <p:nvSpPr>
          <p:cNvPr name="Freeform 19" id="19"/>
          <p:cNvSpPr/>
          <p:nvPr/>
        </p:nvSpPr>
        <p:spPr>
          <a:xfrm flipH="false" flipV="false" rot="0">
            <a:off x="11178546" y="4264047"/>
            <a:ext cx="6826290" cy="2814959"/>
          </a:xfrm>
          <a:custGeom>
            <a:avLst/>
            <a:gdLst/>
            <a:ahLst/>
            <a:cxnLst/>
            <a:rect r="r" b="b" t="t" l="l"/>
            <a:pathLst>
              <a:path h="2814959" w="6826290">
                <a:moveTo>
                  <a:pt x="0" y="0"/>
                </a:moveTo>
                <a:lnTo>
                  <a:pt x="6826290" y="0"/>
                </a:lnTo>
                <a:lnTo>
                  <a:pt x="6826290" y="2814958"/>
                </a:lnTo>
                <a:lnTo>
                  <a:pt x="0" y="2814958"/>
                </a:lnTo>
                <a:lnTo>
                  <a:pt x="0" y="0"/>
                </a:lnTo>
                <a:close/>
              </a:path>
            </a:pathLst>
          </a:custGeom>
          <a:blipFill>
            <a:blip r:embed="rId4"/>
            <a:stretch>
              <a:fillRect l="0" t="-610" r="0" b="-1561"/>
            </a:stretch>
          </a:blipFill>
        </p:spPr>
      </p:sp>
    </p:spTree>
  </p:cSld>
  <p:clrMapOvr>
    <a:masterClrMapping/>
  </p:clrMapOvr>
  <p:transition spd="slow">
    <p:push dir="l"/>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Example 1</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Program assignment</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6" id="16"/>
          <p:cNvSpPr txBox="true"/>
          <p:nvPr/>
        </p:nvSpPr>
        <p:spPr>
          <a:xfrm rot="0">
            <a:off x="1215022" y="2775443"/>
            <a:ext cx="12892181" cy="6227826"/>
          </a:xfrm>
          <a:prstGeom prst="rect">
            <a:avLst/>
          </a:prstGeom>
        </p:spPr>
        <p:txBody>
          <a:bodyPr anchor="t" rtlCol="false" tIns="0" lIns="0" bIns="0" rIns="0">
            <a:spAutoFit/>
          </a:bodyPr>
          <a:lstStyle/>
          <a:p>
            <a:pPr algn="just">
              <a:lnSpc>
                <a:spcPts val="2823"/>
              </a:lnSpc>
            </a:pPr>
            <a:r>
              <a:rPr lang="en-US" sz="1920" b="true">
                <a:solidFill>
                  <a:srgbClr val="3E67C8"/>
                </a:solidFill>
                <a:latin typeface="Montserrat Semi-Bold"/>
                <a:ea typeface="Montserrat Semi-Bold"/>
                <a:cs typeface="Montserrat Semi-Bold"/>
                <a:sym typeface="Montserrat Semi-Bold"/>
              </a:rPr>
              <a:t>Analysis</a:t>
            </a:r>
          </a:p>
          <a:p>
            <a:pPr algn="just">
              <a:lnSpc>
                <a:spcPts val="2823"/>
              </a:lnSpc>
            </a:pPr>
            <a:r>
              <a:rPr lang="en-US" sz="1920" b="true">
                <a:solidFill>
                  <a:srgbClr val="3E67C8"/>
                </a:solidFill>
                <a:latin typeface="Montserrat Semi-Bold"/>
                <a:ea typeface="Montserrat Semi-Bold"/>
                <a:cs typeface="Montserrat Semi-Bold"/>
                <a:sym typeface="Montserrat Semi-Bold"/>
              </a:rPr>
              <a:t>1. Subproblem: Checking Uni</a:t>
            </a:r>
            <a:r>
              <a:rPr lang="en-US" sz="1920" b="true">
                <a:solidFill>
                  <a:srgbClr val="3E67C8"/>
                </a:solidFill>
                <a:latin typeface="Montserrat Semi-Bold"/>
                <a:ea typeface="Montserrat Semi-Bold"/>
                <a:cs typeface="Montserrat Semi-Bold"/>
                <a:sym typeface="Montserrat Semi-Bold"/>
              </a:rPr>
              <a:t>formity in a Rectangle</a:t>
            </a:r>
          </a:p>
          <a:p>
            <a:pPr algn="just">
              <a:lnSpc>
                <a:spcPts val="2823"/>
              </a:lnSpc>
            </a:pPr>
            <a:r>
              <a:rPr lang="en-US" sz="1920" b="true">
                <a:solidFill>
                  <a:srgbClr val="3E67C8"/>
                </a:solidFill>
                <a:latin typeface="Montserrat Semi-Bold"/>
                <a:ea typeface="Montserrat Semi-Bold"/>
                <a:cs typeface="Montserrat Semi-Bold"/>
                <a:sym typeface="Montserrat Semi-Bold"/>
              </a:rPr>
              <a:t>Given an N×M matrix where each cell contains either 0 or 1, determine whether any arbitrary sub-rectangle consists entirely of the same value (either all 0s or all 1s).</a:t>
            </a:r>
          </a:p>
          <a:p>
            <a:pPr algn="just">
              <a:lnSpc>
                <a:spcPts val="2823"/>
              </a:lnSpc>
            </a:pPr>
            <a:r>
              <a:rPr lang="en-US" sz="1920" b="true">
                <a:solidFill>
                  <a:srgbClr val="3E67C8"/>
                </a:solidFill>
                <a:latin typeface="Montserrat Semi-Bold"/>
                <a:ea typeface="Montserrat Semi-Bold"/>
                <a:cs typeface="Montserrat Semi-Bold"/>
                <a:sym typeface="Montserrat Semi-Bold"/>
              </a:rPr>
              <a:t>Naïve Approach:</a:t>
            </a:r>
          </a:p>
          <a:p>
            <a:pPr algn="just">
              <a:lnSpc>
                <a:spcPts val="2823"/>
              </a:lnSpc>
            </a:pPr>
            <a:r>
              <a:rPr lang="en-US" sz="1920" b="true">
                <a:solidFill>
                  <a:srgbClr val="3E67C8"/>
                </a:solidFill>
                <a:latin typeface="Montserrat Semi-Bold"/>
                <a:ea typeface="Montserrat Semi-Bold"/>
                <a:cs typeface="Montserrat Semi-Bold"/>
                <a:sym typeface="Montserrat Semi-Bold"/>
              </a:rPr>
              <a:t>Iterate through all cells in the rectangle to check if they are identical. This takes O(n^2) time, which is inefficient.</a:t>
            </a:r>
          </a:p>
          <a:p>
            <a:pPr algn="just">
              <a:lnSpc>
                <a:spcPts val="2823"/>
              </a:lnSpc>
            </a:pPr>
            <a:r>
              <a:rPr lang="en-US" sz="1920" b="true">
                <a:solidFill>
                  <a:srgbClr val="3E67C8"/>
                </a:solidFill>
                <a:latin typeface="Montserrat Semi-Bold"/>
                <a:ea typeface="Montserrat Semi-Bold"/>
                <a:cs typeface="Montserrat Semi-Bold"/>
                <a:sym typeface="Montserrat Semi-Bold"/>
              </a:rPr>
              <a:t>Optimized Approach:</a:t>
            </a:r>
          </a:p>
          <a:p>
            <a:pPr algn="just">
              <a:lnSpc>
                <a:spcPts val="2823"/>
              </a:lnSpc>
            </a:pPr>
            <a:r>
              <a:rPr lang="en-US" sz="1920" b="true">
                <a:solidFill>
                  <a:srgbClr val="3E67C8"/>
                </a:solidFill>
                <a:latin typeface="Montserrat Semi-Bold"/>
                <a:ea typeface="Montserrat Semi-Bold"/>
                <a:cs typeface="Montserrat Semi-Bold"/>
                <a:sym typeface="Montserrat Semi-Bold"/>
              </a:rPr>
              <a:t>Since the matrix contains only 0s and 1s, we can use prefix sum to efficiently compute the sum of any sub-rectangle. Let the rectangle have dimensions H×W:</a:t>
            </a:r>
          </a:p>
          <a:p>
            <a:pPr algn="just" marL="414731" indent="-207365" lvl="1">
              <a:lnSpc>
                <a:spcPts val="2823"/>
              </a:lnSpc>
              <a:buFont typeface="Arial"/>
              <a:buChar char="•"/>
            </a:pPr>
            <a:r>
              <a:rPr lang="en-US" b="true" sz="1920">
                <a:solidFill>
                  <a:srgbClr val="3E67C8"/>
                </a:solidFill>
                <a:latin typeface="Montserrat Semi-Bold"/>
                <a:ea typeface="Montserrat Semi-Bold"/>
                <a:cs typeface="Montserrat Semi-Bold"/>
                <a:sym typeface="Montserrat Semi-Bold"/>
              </a:rPr>
              <a:t>If the sum of all cells is 0, the rectangle consists entirely of 0s.</a:t>
            </a:r>
          </a:p>
          <a:p>
            <a:pPr algn="just" marL="414731" indent="-207365" lvl="1">
              <a:lnSpc>
                <a:spcPts val="2823"/>
              </a:lnSpc>
              <a:buFont typeface="Arial"/>
              <a:buChar char="•"/>
            </a:pPr>
            <a:r>
              <a:rPr lang="en-US" b="true" sz="1920">
                <a:solidFill>
                  <a:srgbClr val="3E67C8"/>
                </a:solidFill>
                <a:latin typeface="Montserrat Semi-Bold"/>
                <a:ea typeface="Montserrat Semi-Bold"/>
                <a:cs typeface="Montserrat Semi-Bold"/>
                <a:sym typeface="Montserrat Semi-Bold"/>
              </a:rPr>
              <a:t>If the sum equals H×W, the rectangle consists entirely of 1s.</a:t>
            </a:r>
          </a:p>
          <a:p>
            <a:pPr algn="just">
              <a:lnSpc>
                <a:spcPts val="2823"/>
              </a:lnSpc>
            </a:pPr>
            <a:r>
              <a:rPr lang="en-US" sz="1920" b="true">
                <a:solidFill>
                  <a:srgbClr val="3E67C8"/>
                </a:solidFill>
                <a:latin typeface="Montserrat Semi-Bold"/>
                <a:ea typeface="Montserrat Semi-Bold"/>
                <a:cs typeface="Montserrat Semi-Bold"/>
                <a:sym typeface="Montserrat Semi-Bold"/>
              </a:rPr>
              <a:t>Define dp[i][j] as the sum of all values in the submatrix from (0,0) to (i,j):</a:t>
            </a:r>
          </a:p>
          <a:p>
            <a:pPr algn="just">
              <a:lnSpc>
                <a:spcPts val="2823"/>
              </a:lnSpc>
            </a:pPr>
          </a:p>
          <a:p>
            <a:pPr algn="just">
              <a:lnSpc>
                <a:spcPts val="2823"/>
              </a:lnSpc>
            </a:pPr>
            <a:r>
              <a:rPr lang="en-US" sz="1920" b="true">
                <a:solidFill>
                  <a:srgbClr val="3E67C8"/>
                </a:solidFill>
                <a:latin typeface="Montserrat Semi-Bold"/>
                <a:ea typeface="Montserrat Semi-Bold"/>
                <a:cs typeface="Montserrat Semi-Bold"/>
                <a:sym typeface="Montserrat Semi-Bold"/>
              </a:rPr>
              <a:t>Using this, the sum of a sub-rectangle with top-left corner (x1,y1) and bottom-right corner (x2, y2) is computed in O(1)</a:t>
            </a:r>
          </a:p>
          <a:p>
            <a:pPr algn="just">
              <a:lnSpc>
                <a:spcPts val="2823"/>
              </a:lnSpc>
            </a:pPr>
          </a:p>
          <a:p>
            <a:pPr algn="just">
              <a:lnSpc>
                <a:spcPts val="1732"/>
              </a:lnSpc>
            </a:pPr>
          </a:p>
        </p:txBody>
      </p:sp>
      <p:sp>
        <p:nvSpPr>
          <p:cNvPr name="Freeform 17" id="17"/>
          <p:cNvSpPr/>
          <p:nvPr/>
        </p:nvSpPr>
        <p:spPr>
          <a:xfrm flipH="false" flipV="false" rot="0">
            <a:off x="14835695" y="3211206"/>
            <a:ext cx="2423605" cy="2325144"/>
          </a:xfrm>
          <a:custGeom>
            <a:avLst/>
            <a:gdLst/>
            <a:ahLst/>
            <a:cxnLst/>
            <a:rect r="r" b="b" t="t" l="l"/>
            <a:pathLst>
              <a:path h="2325144" w="2423605">
                <a:moveTo>
                  <a:pt x="0" y="0"/>
                </a:moveTo>
                <a:lnTo>
                  <a:pt x="2423605" y="0"/>
                </a:lnTo>
                <a:lnTo>
                  <a:pt x="2423605" y="2325144"/>
                </a:lnTo>
                <a:lnTo>
                  <a:pt x="0" y="2325144"/>
                </a:lnTo>
                <a:lnTo>
                  <a:pt x="0" y="0"/>
                </a:lnTo>
                <a:close/>
              </a:path>
            </a:pathLst>
          </a:custGeom>
          <a:blipFill>
            <a:blip r:embed="rId4"/>
            <a:stretch>
              <a:fillRect l="-179540" t="-7487" r="-186759" b="-6125"/>
            </a:stretch>
          </a:blipFill>
        </p:spPr>
      </p:sp>
      <p:pic>
        <p:nvPicPr>
          <p:cNvPr name="Picture 18" id="18"/>
          <p:cNvPicPr>
            <a:picLocks noChangeAspect="true"/>
          </p:cNvPicPr>
          <p:nvPr/>
        </p:nvPicPr>
        <p:blipFill>
          <a:blip r:embed="rId5"/>
          <a:stretch>
            <a:fillRect/>
          </a:stretch>
        </p:blipFill>
        <p:spPr>
          <a:xfrm rot="0">
            <a:off x="507410" y="6758510"/>
            <a:ext cx="8491343" cy="1669076"/>
          </a:xfrm>
          <a:prstGeom prst="rect">
            <a:avLst/>
          </a:prstGeom>
        </p:spPr>
      </p:pic>
      <p:pic>
        <p:nvPicPr>
          <p:cNvPr name="Picture 19" id="19"/>
          <p:cNvPicPr>
            <a:picLocks noChangeAspect="true"/>
          </p:cNvPicPr>
          <p:nvPr/>
        </p:nvPicPr>
        <p:blipFill>
          <a:blip r:embed="rId6"/>
          <a:stretch>
            <a:fillRect/>
          </a:stretch>
        </p:blipFill>
        <p:spPr>
          <a:xfrm rot="0">
            <a:off x="403492" y="7631072"/>
            <a:ext cx="9738360" cy="1873726"/>
          </a:xfrm>
          <a:prstGeom prst="rect">
            <a:avLst/>
          </a:prstGeom>
        </p:spPr>
      </p:pic>
      <p:sp>
        <p:nvSpPr>
          <p:cNvPr name="TextBox 20" id="20"/>
          <p:cNvSpPr txBox="true"/>
          <p:nvPr/>
        </p:nvSpPr>
        <p:spPr>
          <a:xfrm rot="0">
            <a:off x="1028700" y="532301"/>
            <a:ext cx="3195663"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21" id="21"/>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24</a:t>
            </a:r>
          </a:p>
        </p:txBody>
      </p:sp>
    </p:spTree>
  </p:cSld>
  <p:clrMapOvr>
    <a:masterClrMapping/>
  </p:clrMapOvr>
  <p:transition spd="slow">
    <p:push dir="l"/>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Example 1</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Program assignment</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6" id="16"/>
          <p:cNvSpPr/>
          <p:nvPr/>
        </p:nvSpPr>
        <p:spPr>
          <a:xfrm flipH="false" flipV="false" rot="0">
            <a:off x="3785821" y="4538407"/>
            <a:ext cx="11337957" cy="4719893"/>
          </a:xfrm>
          <a:custGeom>
            <a:avLst/>
            <a:gdLst/>
            <a:ahLst/>
            <a:cxnLst/>
            <a:rect r="r" b="b" t="t" l="l"/>
            <a:pathLst>
              <a:path h="4719893" w="11337957">
                <a:moveTo>
                  <a:pt x="0" y="0"/>
                </a:moveTo>
                <a:lnTo>
                  <a:pt x="11337957" y="0"/>
                </a:lnTo>
                <a:lnTo>
                  <a:pt x="11337957" y="4719893"/>
                </a:lnTo>
                <a:lnTo>
                  <a:pt x="0" y="4719893"/>
                </a:lnTo>
                <a:lnTo>
                  <a:pt x="0" y="0"/>
                </a:lnTo>
                <a:close/>
              </a:path>
            </a:pathLst>
          </a:custGeom>
          <a:blipFill>
            <a:blip r:embed="rId4"/>
            <a:stretch>
              <a:fillRect l="0" t="-604" r="0" b="-604"/>
            </a:stretch>
          </a:blipFill>
        </p:spPr>
      </p:sp>
      <p:sp>
        <p:nvSpPr>
          <p:cNvPr name="TextBox 17" id="17"/>
          <p:cNvSpPr txBox="true"/>
          <p:nvPr/>
        </p:nvSpPr>
        <p:spPr>
          <a:xfrm rot="0">
            <a:off x="1215022" y="2775443"/>
            <a:ext cx="16044278" cy="1630690"/>
          </a:xfrm>
          <a:prstGeom prst="rect">
            <a:avLst/>
          </a:prstGeom>
        </p:spPr>
        <p:txBody>
          <a:bodyPr anchor="t" rtlCol="false" tIns="0" lIns="0" bIns="0" rIns="0">
            <a:spAutoFit/>
          </a:bodyPr>
          <a:lstStyle/>
          <a:p>
            <a:pPr algn="just">
              <a:lnSpc>
                <a:spcPts val="2823"/>
              </a:lnSpc>
            </a:pPr>
            <a:r>
              <a:rPr lang="en-US" sz="1920" b="true">
                <a:solidFill>
                  <a:srgbClr val="3E67C8"/>
                </a:solidFill>
                <a:latin typeface="Montserrat Semi-Bold"/>
                <a:ea typeface="Montserrat Semi-Bold"/>
                <a:cs typeface="Montserrat Semi-Bold"/>
                <a:sym typeface="Montserrat Semi-Bold"/>
              </a:rPr>
              <a:t>2. Applying t</a:t>
            </a:r>
            <a:r>
              <a:rPr lang="en-US" sz="1920" b="true">
                <a:solidFill>
                  <a:srgbClr val="3E67C8"/>
                </a:solidFill>
                <a:latin typeface="Montserrat Semi-Bold"/>
                <a:ea typeface="Montserrat Semi-Bold"/>
                <a:cs typeface="Montserrat Semi-Bold"/>
                <a:sym typeface="Montserrat Semi-Bold"/>
              </a:rPr>
              <a:t>o Quad Tree</a:t>
            </a:r>
          </a:p>
          <a:p>
            <a:pPr algn="just">
              <a:lnSpc>
                <a:spcPts val="2823"/>
              </a:lnSpc>
            </a:pPr>
            <a:r>
              <a:rPr lang="en-US" sz="1920" b="true">
                <a:solidFill>
                  <a:srgbClr val="3E67C8"/>
                </a:solidFill>
                <a:latin typeface="Montserrat Semi-Bold"/>
                <a:ea typeface="Montserrat Semi-Bold"/>
                <a:cs typeface="Montserrat Semi-Bold"/>
                <a:sym typeface="Montserrat Semi-Bold"/>
              </a:rPr>
              <a:t>We recursively divide the matrix (initially covering (0,0) to (n−1,m−1) into four equal submatrices:</a:t>
            </a:r>
          </a:p>
          <a:p>
            <a:pPr algn="just" marL="414731" indent="-207365" lvl="1">
              <a:lnSpc>
                <a:spcPts val="2823"/>
              </a:lnSpc>
              <a:buFont typeface="Arial"/>
              <a:buChar char="•"/>
            </a:pPr>
            <a:r>
              <a:rPr lang="en-US" b="true" sz="1920">
                <a:solidFill>
                  <a:srgbClr val="3E67C8"/>
                </a:solidFill>
                <a:latin typeface="Montserrat Semi-Bold"/>
                <a:ea typeface="Montserrat Semi-Bold"/>
                <a:cs typeface="Montserrat Semi-Bold"/>
                <a:sym typeface="Montserrat Semi-Bold"/>
              </a:rPr>
              <a:t>If a submatrix contains only 0s or only 1s, mark it as a leaf node with isLeaf = true and val = 0 or 1, then stop recursion.</a:t>
            </a:r>
          </a:p>
          <a:p>
            <a:pPr algn="just" marL="414731" indent="-207365" lvl="1">
              <a:lnSpc>
                <a:spcPts val="2823"/>
              </a:lnSpc>
              <a:buFont typeface="Arial"/>
              <a:buChar char="•"/>
            </a:pPr>
            <a:r>
              <a:rPr lang="en-US" b="true" sz="1920">
                <a:solidFill>
                  <a:srgbClr val="3E67C8"/>
                </a:solidFill>
                <a:latin typeface="Montserrat Semi-Bold"/>
                <a:ea typeface="Montserrat Semi-Bold"/>
                <a:cs typeface="Montserrat Semi-Bold"/>
                <a:sym typeface="Montserrat Semi-Bold"/>
              </a:rPr>
              <a:t>O</a:t>
            </a:r>
            <a:r>
              <a:rPr lang="en-US" b="true" sz="1920">
                <a:solidFill>
                  <a:srgbClr val="3E67C8"/>
                </a:solidFill>
                <a:latin typeface="Montserrat Semi-Bold"/>
                <a:ea typeface="Montserrat Semi-Bold"/>
                <a:cs typeface="Montserrat Semi-Bold"/>
                <a:sym typeface="Montserrat Semi-Bold"/>
              </a:rPr>
              <a:t>therwise, split it into four smaller submatrices, which become child nodes, and recurse on each.</a:t>
            </a:r>
          </a:p>
          <a:p>
            <a:pPr algn="just">
              <a:lnSpc>
                <a:spcPts val="1732"/>
              </a:lnSpc>
            </a:pPr>
          </a:p>
        </p:txBody>
      </p:sp>
      <p:sp>
        <p:nvSpPr>
          <p:cNvPr name="TextBox 18" id="18"/>
          <p:cNvSpPr txBox="true"/>
          <p:nvPr/>
        </p:nvSpPr>
        <p:spPr>
          <a:xfrm rot="0">
            <a:off x="1028700" y="532301"/>
            <a:ext cx="3195663"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9" id="19"/>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25</a:t>
            </a:r>
          </a:p>
        </p:txBody>
      </p:sp>
    </p:spTree>
  </p:cSld>
  <p:clrMapOvr>
    <a:masterClrMapping/>
  </p:clrMapOvr>
  <p:transition spd="slow">
    <p:push dir="l"/>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3254606" y="6922829"/>
            <a:ext cx="10066789" cy="8229600"/>
          </a:xfrm>
          <a:custGeom>
            <a:avLst/>
            <a:gdLst/>
            <a:ahLst/>
            <a:cxnLst/>
            <a:rect r="r" b="b" t="t" l="l"/>
            <a:pathLst>
              <a:path h="8229600" w="10066789">
                <a:moveTo>
                  <a:pt x="10066788" y="8229600"/>
                </a:moveTo>
                <a:lnTo>
                  <a:pt x="0" y="8229600"/>
                </a:lnTo>
                <a:lnTo>
                  <a:pt x="0" y="0"/>
                </a:lnTo>
                <a:lnTo>
                  <a:pt x="10066788" y="0"/>
                </a:lnTo>
                <a:lnTo>
                  <a:pt x="10066788"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2196"/>
            <a:ext cx="16237072" cy="691561"/>
          </a:xfrm>
          <a:prstGeom prst="rect">
            <a:avLst/>
          </a:prstGeom>
        </p:spPr>
        <p:txBody>
          <a:bodyPr anchor="t" rtlCol="false" tIns="0" lIns="0" bIns="0" rIns="0">
            <a:spAutoFit/>
          </a:bodyPr>
          <a:lstStyle/>
          <a:p>
            <a:pPr algn="l">
              <a:lnSpc>
                <a:spcPts val="5082"/>
              </a:lnSpc>
            </a:pPr>
            <a:r>
              <a:rPr lang="en-US" sz="5710" b="true">
                <a:solidFill>
                  <a:srgbClr val="3E67C8"/>
                </a:solidFill>
                <a:latin typeface="Montserrat Semi-Bold"/>
                <a:ea typeface="Montserrat Semi-Bold"/>
                <a:cs typeface="Montserrat Semi-Bold"/>
                <a:sym typeface="Montserrat Semi-Bold"/>
              </a:rPr>
              <a:t>Example 2</a:t>
            </a:r>
          </a:p>
        </p:txBody>
      </p:sp>
      <p:sp>
        <p:nvSpPr>
          <p:cNvPr name="TextBox 12" id="12"/>
          <p:cNvSpPr txBox="true"/>
          <p:nvPr/>
        </p:nvSpPr>
        <p:spPr>
          <a:xfrm rot="0">
            <a:off x="1767764" y="1295400"/>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Ultra-Bold"/>
                <a:ea typeface="Montserrat Ultra-Bold"/>
                <a:cs typeface="Montserrat Ultra-Bold"/>
                <a:sym typeface="Montserrat Ultra-Bold"/>
              </a:rPr>
              <a:t>Program assignment</a:t>
            </a:r>
          </a:p>
        </p:txBody>
      </p:sp>
      <p:grpSp>
        <p:nvGrpSpPr>
          <p:cNvPr name="Group 13" id="13"/>
          <p:cNvGrpSpPr/>
          <p:nvPr/>
        </p:nvGrpSpPr>
        <p:grpSpPr>
          <a:xfrm rot="0">
            <a:off x="957214" y="1190625"/>
            <a:ext cx="1318118" cy="131811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Freeform 16" id="16"/>
          <p:cNvSpPr/>
          <p:nvPr/>
        </p:nvSpPr>
        <p:spPr>
          <a:xfrm flipH="false" flipV="false" rot="0">
            <a:off x="9769778" y="5288263"/>
            <a:ext cx="7489522" cy="4532121"/>
          </a:xfrm>
          <a:custGeom>
            <a:avLst/>
            <a:gdLst/>
            <a:ahLst/>
            <a:cxnLst/>
            <a:rect r="r" b="b" t="t" l="l"/>
            <a:pathLst>
              <a:path h="4532121" w="7489522">
                <a:moveTo>
                  <a:pt x="0" y="0"/>
                </a:moveTo>
                <a:lnTo>
                  <a:pt x="7489522" y="0"/>
                </a:lnTo>
                <a:lnTo>
                  <a:pt x="7489522" y="4532121"/>
                </a:lnTo>
                <a:lnTo>
                  <a:pt x="0" y="4532121"/>
                </a:lnTo>
                <a:lnTo>
                  <a:pt x="0" y="0"/>
                </a:lnTo>
                <a:close/>
              </a:path>
            </a:pathLst>
          </a:custGeom>
          <a:blipFill>
            <a:blip r:embed="rId4"/>
            <a:stretch>
              <a:fillRect l="0" t="0" r="0" b="0"/>
            </a:stretch>
          </a:blipFill>
        </p:spPr>
      </p:sp>
      <p:sp>
        <p:nvSpPr>
          <p:cNvPr name="TextBox 17" id="17"/>
          <p:cNvSpPr txBox="true"/>
          <p:nvPr/>
        </p:nvSpPr>
        <p:spPr>
          <a:xfrm rot="0">
            <a:off x="1215022" y="2594468"/>
            <a:ext cx="16044278" cy="4099761"/>
          </a:xfrm>
          <a:prstGeom prst="rect">
            <a:avLst/>
          </a:prstGeom>
        </p:spPr>
        <p:txBody>
          <a:bodyPr anchor="t" rtlCol="false" tIns="0" lIns="0" bIns="0" rIns="0">
            <a:spAutoFit/>
          </a:bodyPr>
          <a:lstStyle/>
          <a:p>
            <a:pPr algn="just">
              <a:lnSpc>
                <a:spcPts val="2823"/>
              </a:lnSpc>
            </a:pPr>
            <a:r>
              <a:rPr lang="en-US" b="true" sz="1920">
                <a:solidFill>
                  <a:srgbClr val="3E67C8"/>
                </a:solidFill>
                <a:latin typeface="Montserrat Semi-Bold"/>
                <a:ea typeface="Montserrat Semi-Bold"/>
                <a:cs typeface="Montserrat Semi-Bold"/>
                <a:sym typeface="Montserrat Semi-Bold"/>
                <a:hlinkClick r:id="rId5" tooltip="https://dmoj.ca/problem/cco96p3"/>
              </a:rPr>
              <a:t>Problem</a:t>
            </a:r>
          </a:p>
          <a:p>
            <a:pPr algn="just">
              <a:lnSpc>
                <a:spcPts val="2823"/>
              </a:lnSpc>
            </a:pPr>
            <a:r>
              <a:rPr lang="en-US" b="true" sz="1920">
                <a:solidFill>
                  <a:srgbClr val="3E67C8"/>
                </a:solidFill>
                <a:latin typeface="Montserrat Semi-Bold"/>
                <a:ea typeface="Montserrat Semi-Bold"/>
                <a:cs typeface="Montserrat Semi-Bold"/>
                <a:sym typeface="Montserrat Semi-Bold"/>
                <a:hlinkClick r:id="rId6" tooltip="https://dmoj.ca/problem/cco96p3"/>
              </a:rPr>
              <a:t>A comput</a:t>
            </a:r>
            <a:r>
              <a:rPr lang="en-US" b="true" sz="1920">
                <a:solidFill>
                  <a:srgbClr val="3E67C8"/>
                </a:solidFill>
                <a:latin typeface="Montserrat Semi-Bold"/>
                <a:ea typeface="Montserrat Semi-Bold"/>
                <a:cs typeface="Montserrat Semi-Bold"/>
                <a:sym typeface="Montserrat Semi-Bold"/>
                <a:hlinkClick r:id="rId7" tooltip="https://dmoj.ca/problem/cco96p3"/>
              </a:rPr>
              <a:t>er artist works with black-and-white images of size 32 × 32 (1024 pixels). They can "add" two images by keeping a pixel black if it appears as black in at least one of the component images.</a:t>
            </a:r>
          </a:p>
          <a:p>
            <a:pPr algn="just">
              <a:lnSpc>
                <a:spcPts val="2823"/>
              </a:lnSpc>
            </a:pPr>
            <a:r>
              <a:rPr lang="en-US" b="true" sz="1920">
                <a:solidFill>
                  <a:srgbClr val="3E67C8"/>
                </a:solidFill>
                <a:latin typeface="Montserrat Semi-Bold"/>
                <a:ea typeface="Montserrat Semi-Bold"/>
                <a:cs typeface="Montserrat Semi-Bold"/>
                <a:sym typeface="Montserrat Semi-Bold"/>
                <a:hlinkClick r:id="rId8" tooltip="https://dmoj.ca/problem/cco96p3"/>
              </a:rPr>
              <a:t>A quadtree is a method of encoding images by recursively dividing them into four regions. If an entire region is a single colour, it is represented by a single node ('e' for white, 'f' for black). Otherwise, it is split into four quadrants and represented in pre-order with 'p' (parent) followed by the four subregions in a fixed order.</a:t>
            </a:r>
          </a:p>
          <a:p>
            <a:pPr algn="just">
              <a:lnSpc>
                <a:spcPts val="2823"/>
              </a:lnSpc>
            </a:pPr>
            <a:r>
              <a:rPr lang="en-US" b="true" sz="1920">
                <a:solidFill>
                  <a:srgbClr val="3E67C8"/>
                </a:solidFill>
                <a:latin typeface="Montserrat Semi-Bold"/>
                <a:ea typeface="Montserrat Semi-Bold"/>
                <a:cs typeface="Montserrat Semi-Bold"/>
                <a:sym typeface="Montserrat Semi-Bold"/>
                <a:hlinkClick r:id="rId9" tooltip="https://dmoj.ca/problem/cco96p3"/>
              </a:rPr>
              <a:t>Your task is to compute the number of black pixels in the resulting image after adding two images given their quadtree representations.</a:t>
            </a:r>
          </a:p>
          <a:p>
            <a:pPr algn="just">
              <a:lnSpc>
                <a:spcPts val="2823"/>
              </a:lnSpc>
            </a:pPr>
            <a:r>
              <a:rPr lang="en-US" sz="1920">
                <a:solidFill>
                  <a:srgbClr val="3E67C8"/>
                </a:solidFill>
                <a:latin typeface="Montserrat"/>
                <a:ea typeface="Montserrat"/>
                <a:cs typeface="Montserrat"/>
                <a:sym typeface="Montserrat"/>
              </a:rPr>
              <a:t>https://dmoj.ca/problem/cco96p3</a:t>
            </a:r>
          </a:p>
          <a:p>
            <a:pPr algn="just">
              <a:lnSpc>
                <a:spcPts val="2823"/>
              </a:lnSpc>
            </a:pPr>
            <a:r>
              <a:rPr lang="en-US" b="true" sz="1920">
                <a:solidFill>
                  <a:srgbClr val="3E67C8"/>
                </a:solidFill>
                <a:latin typeface="Montserrat Semi-Bold"/>
                <a:ea typeface="Montserrat Semi-Bold"/>
                <a:cs typeface="Montserrat Semi-Bold"/>
                <a:sym typeface="Montserrat Semi-Bold"/>
              </a:rPr>
              <a:t>Canadian Computing Competition: 1996 Stage 2, Day 1, Problem 3</a:t>
            </a:r>
          </a:p>
          <a:p>
            <a:pPr algn="just">
              <a:lnSpc>
                <a:spcPts val="2823"/>
              </a:lnSpc>
            </a:pPr>
          </a:p>
          <a:p>
            <a:pPr algn="just">
              <a:lnSpc>
                <a:spcPts val="1732"/>
              </a:lnSpc>
            </a:pPr>
          </a:p>
        </p:txBody>
      </p:sp>
      <p:sp>
        <p:nvSpPr>
          <p:cNvPr name="TextBox 18" id="18"/>
          <p:cNvSpPr txBox="true"/>
          <p:nvPr/>
        </p:nvSpPr>
        <p:spPr>
          <a:xfrm rot="0">
            <a:off x="1028700" y="532301"/>
            <a:ext cx="3195663"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9" id="19"/>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26</a:t>
            </a:r>
          </a:p>
        </p:txBody>
      </p:sp>
      <p:sp>
        <p:nvSpPr>
          <p:cNvPr name="TextBox 20" id="20"/>
          <p:cNvSpPr txBox="true"/>
          <p:nvPr/>
        </p:nvSpPr>
        <p:spPr>
          <a:xfrm rot="0">
            <a:off x="1215022" y="6159213"/>
            <a:ext cx="6268566" cy="3394911"/>
          </a:xfrm>
          <a:prstGeom prst="rect">
            <a:avLst/>
          </a:prstGeom>
        </p:spPr>
        <p:txBody>
          <a:bodyPr anchor="t" rtlCol="false" tIns="0" lIns="0" bIns="0" rIns="0">
            <a:spAutoFit/>
          </a:bodyPr>
          <a:lstStyle/>
          <a:p>
            <a:pPr algn="just">
              <a:lnSpc>
                <a:spcPts val="2823"/>
              </a:lnSpc>
            </a:pPr>
            <a:r>
              <a:rPr lang="en-US" b="true" sz="1920">
                <a:solidFill>
                  <a:srgbClr val="3E67C8"/>
                </a:solidFill>
                <a:latin typeface="Montserrat Semi-Bold"/>
                <a:ea typeface="Montserrat Semi-Bold"/>
                <a:cs typeface="Montserrat Semi-Bold"/>
                <a:sym typeface="Montserrat Semi-Bold"/>
                <a:hlinkClick r:id="rId10" tooltip="https://dmoj.ca/problem/cco96p3"/>
              </a:rPr>
              <a:t>Input:</a:t>
            </a:r>
          </a:p>
          <a:p>
            <a:pPr algn="just" marL="414730" indent="-207365" lvl="1">
              <a:lnSpc>
                <a:spcPts val="2823"/>
              </a:lnSpc>
              <a:buFont typeface="Arial"/>
              <a:buChar char="•"/>
            </a:pPr>
            <a:r>
              <a:rPr lang="en-US" b="true" sz="1920">
                <a:solidFill>
                  <a:srgbClr val="3E67C8"/>
                </a:solidFill>
                <a:latin typeface="Montserrat Semi-Bold"/>
                <a:ea typeface="Montserrat Semi-Bold"/>
                <a:cs typeface="Montserrat Semi-Bold"/>
                <a:sym typeface="Montserrat Semi-Bold"/>
                <a:hlinkClick r:id="rId11" tooltip="https://dmoj.ca/problem/cco96p3"/>
              </a:rPr>
              <a:t>An</a:t>
            </a:r>
            <a:r>
              <a:rPr lang="en-US" b="true" sz="1920">
                <a:solidFill>
                  <a:srgbClr val="3E67C8"/>
                </a:solidFill>
                <a:latin typeface="Montserrat Semi-Bold"/>
                <a:ea typeface="Montserrat Semi-Bold"/>
                <a:cs typeface="Montserrat Semi-Bold"/>
                <a:sym typeface="Montserrat Semi-Bold"/>
                <a:hlinkClick r:id="rId12" tooltip="https://dmoj.ca/problem/cco96p3"/>
              </a:rPr>
              <a:t> integer N representing the number of test cases.</a:t>
            </a:r>
          </a:p>
          <a:p>
            <a:pPr algn="just" marL="414730" indent="-207365" lvl="1">
              <a:lnSpc>
                <a:spcPts val="2823"/>
              </a:lnSpc>
              <a:buFont typeface="Arial"/>
              <a:buChar char="•"/>
            </a:pPr>
            <a:r>
              <a:rPr lang="en-US" b="true" sz="1920">
                <a:solidFill>
                  <a:srgbClr val="3E67C8"/>
                </a:solidFill>
                <a:latin typeface="Montserrat Semi-Bold"/>
                <a:ea typeface="Montserrat Semi-Bold"/>
                <a:cs typeface="Montserrat Semi-Bold"/>
                <a:sym typeface="Montserrat Semi-Bold"/>
                <a:hlinkClick r:id="rId13" tooltip="https://dmoj.ca/problem/cco96p3"/>
              </a:rPr>
              <a:t>Each</a:t>
            </a:r>
            <a:r>
              <a:rPr lang="en-US" b="true" sz="1920">
                <a:solidFill>
                  <a:srgbClr val="3E67C8"/>
                </a:solidFill>
                <a:latin typeface="Montserrat Semi-Bold"/>
                <a:ea typeface="Montserrat Semi-Bold"/>
                <a:cs typeface="Montserrat Semi-Bold"/>
                <a:sym typeface="Montserrat Semi-Bold"/>
                <a:hlinkClick r:id="rId14" tooltip="https://dmoj.ca/problem/cco96p3"/>
              </a:rPr>
              <a:t> test case consists of two strings, each representing a quadtree in pre-order notation.</a:t>
            </a:r>
          </a:p>
          <a:p>
            <a:pPr algn="just">
              <a:lnSpc>
                <a:spcPts val="2823"/>
              </a:lnSpc>
            </a:pPr>
            <a:r>
              <a:rPr lang="en-US" b="true" sz="1920">
                <a:solidFill>
                  <a:srgbClr val="3E67C8"/>
                </a:solidFill>
                <a:latin typeface="Montserrat Semi-Bold"/>
                <a:ea typeface="Montserrat Semi-Bold"/>
                <a:cs typeface="Montserrat Semi-Bold"/>
                <a:sym typeface="Montserrat Semi-Bold"/>
                <a:hlinkClick r:id="rId15" tooltip="https://dmoj.ca/problem/cco96p3"/>
              </a:rPr>
              <a:t>Output:</a:t>
            </a:r>
          </a:p>
          <a:p>
            <a:pPr algn="just" marL="414730" indent="-207365" lvl="1">
              <a:lnSpc>
                <a:spcPts val="2823"/>
              </a:lnSpc>
              <a:buFont typeface="Arial"/>
              <a:buChar char="•"/>
            </a:pPr>
            <a:r>
              <a:rPr lang="en-US" b="true" sz="1920">
                <a:solidFill>
                  <a:srgbClr val="3E67C8"/>
                </a:solidFill>
                <a:latin typeface="Montserrat Semi-Bold"/>
                <a:ea typeface="Montserrat Semi-Bold"/>
                <a:cs typeface="Montserrat Semi-Bold"/>
                <a:sym typeface="Montserrat Semi-Bold"/>
                <a:hlinkClick r:id="rId16" tooltip="https://dmoj.ca/problem/cco96p3"/>
              </a:rPr>
              <a:t>For each test case, print There are X black pixels. where X is the number of black pixels in the final image.</a:t>
            </a:r>
          </a:p>
          <a:p>
            <a:pPr algn="just">
              <a:lnSpc>
                <a:spcPts val="1732"/>
              </a:lnSpc>
            </a:pPr>
          </a:p>
        </p:txBody>
      </p:sp>
    </p:spTree>
  </p:cSld>
  <p:clrMapOvr>
    <a:masterClrMapping/>
  </p:clrMapOvr>
  <p:transition spd="slow">
    <p:push dir="l"/>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0277"/>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Bold"/>
                <a:ea typeface="Montserrat Bold"/>
                <a:cs typeface="Montserrat Bold"/>
                <a:sym typeface="Montserrat Bold"/>
              </a:rPr>
              <a:t>CONCLUSION</a:t>
            </a:r>
          </a:p>
        </p:txBody>
      </p:sp>
      <p:grpSp>
        <p:nvGrpSpPr>
          <p:cNvPr name="Group 12" id="12"/>
          <p:cNvGrpSpPr/>
          <p:nvPr/>
        </p:nvGrpSpPr>
        <p:grpSpPr>
          <a:xfrm rot="0">
            <a:off x="957214" y="1190625"/>
            <a:ext cx="1318118" cy="131811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5" id="15"/>
          <p:cNvSpPr txBox="true"/>
          <p:nvPr/>
        </p:nvSpPr>
        <p:spPr>
          <a:xfrm rot="0">
            <a:off x="1028700" y="532301"/>
            <a:ext cx="2706321"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6" id="16"/>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27</a:t>
            </a:r>
          </a:p>
        </p:txBody>
      </p:sp>
      <p:sp>
        <p:nvSpPr>
          <p:cNvPr name="TextBox 17" id="17"/>
          <p:cNvSpPr txBox="true"/>
          <p:nvPr/>
        </p:nvSpPr>
        <p:spPr>
          <a:xfrm rot="0">
            <a:off x="1616273" y="3118343"/>
            <a:ext cx="16237072" cy="5396110"/>
          </a:xfrm>
          <a:prstGeom prst="rect">
            <a:avLst/>
          </a:prstGeom>
        </p:spPr>
        <p:txBody>
          <a:bodyPr anchor="t" rtlCol="false" tIns="0" lIns="0" bIns="0" rIns="0">
            <a:spAutoFit/>
          </a:bodyPr>
          <a:lstStyle/>
          <a:p>
            <a:pPr algn="just">
              <a:lnSpc>
                <a:spcPts val="4279"/>
              </a:lnSpc>
            </a:pPr>
            <a:r>
              <a:rPr lang="en-US" sz="2910" b="true">
                <a:solidFill>
                  <a:srgbClr val="3E67C8"/>
                </a:solidFill>
                <a:latin typeface="Montserrat Semi-Bold"/>
                <a:ea typeface="Montserrat Semi-Bold"/>
                <a:cs typeface="Montserrat Semi-Bold"/>
                <a:sym typeface="Montserrat Semi-Bold"/>
              </a:rPr>
              <a:t>In conclusion, the Quadtree data structure provides an efficient method for spatial data partitioning, particularly in applications requiring hierarchical organization. Its adaptability to various domains, such as computer graphics, geographical information systems, and collision detection in games, highlights its versatility. By recursively subdividing space, Quadtree optimizes storage and query operations, significantly improving computational efficiency. However, its performance depends on factors such as data distribution and depth constraints, requiring careful implementation. Future research can explore hybrid approaches integrating Quadtrees with other spatial indexing techniques to further </a:t>
            </a:r>
            <a:r>
              <a:rPr lang="en-US" b="true" sz="2910" u="none">
                <a:solidFill>
                  <a:srgbClr val="3E67C8"/>
                </a:solidFill>
                <a:latin typeface="Montserrat Semi-Bold"/>
                <a:ea typeface="Montserrat Semi-Bold"/>
                <a:cs typeface="Montserrat Semi-Bold"/>
                <a:sym typeface="Montserrat Semi-Bold"/>
              </a:rPr>
              <a:t>e</a:t>
            </a:r>
            <a:r>
              <a:rPr lang="en-US" sz="2910" b="true">
                <a:solidFill>
                  <a:srgbClr val="3E67C8"/>
                </a:solidFill>
                <a:latin typeface="Montserrat Semi-Bold"/>
                <a:ea typeface="Montserrat Semi-Bold"/>
                <a:cs typeface="Montserrat Semi-Bold"/>
                <a:sym typeface="Montserrat Semi-Bold"/>
              </a:rPr>
              <a:t>nh</a:t>
            </a:r>
            <a:r>
              <a:rPr lang="en-US" b="true" sz="2910" u="none">
                <a:solidFill>
                  <a:srgbClr val="3E67C8"/>
                </a:solidFill>
                <a:latin typeface="Montserrat Semi-Bold"/>
                <a:ea typeface="Montserrat Semi-Bold"/>
                <a:cs typeface="Montserrat Semi-Bold"/>
                <a:sym typeface="Montserrat Semi-Bold"/>
              </a:rPr>
              <a:t>a</a:t>
            </a:r>
            <a:r>
              <a:rPr lang="en-US" sz="2910" b="true">
                <a:solidFill>
                  <a:srgbClr val="3E67C8"/>
                </a:solidFill>
                <a:latin typeface="Montserrat Semi-Bold"/>
                <a:ea typeface="Montserrat Semi-Bold"/>
                <a:cs typeface="Montserrat Semi-Bold"/>
                <a:sym typeface="Montserrat Semi-Bold"/>
              </a:rPr>
              <a:t>nce</a:t>
            </a:r>
            <a:r>
              <a:rPr lang="en-US" b="true" sz="2910" u="none">
                <a:solidFill>
                  <a:srgbClr val="3E67C8"/>
                </a:solidFill>
                <a:latin typeface="Montserrat Semi-Bold"/>
                <a:ea typeface="Montserrat Semi-Bold"/>
                <a:cs typeface="Montserrat Semi-Bold"/>
                <a:sym typeface="Montserrat Semi-Bold"/>
              </a:rPr>
              <a:t> p</a:t>
            </a:r>
            <a:r>
              <a:rPr lang="en-US" sz="2910" b="true">
                <a:solidFill>
                  <a:srgbClr val="3E67C8"/>
                </a:solidFill>
                <a:latin typeface="Montserrat Semi-Bold"/>
                <a:ea typeface="Montserrat Semi-Bold"/>
                <a:cs typeface="Montserrat Semi-Bold"/>
                <a:sym typeface="Montserrat Semi-Bold"/>
              </a:rPr>
              <a:t>erform</a:t>
            </a:r>
            <a:r>
              <a:rPr lang="en-US" b="true" sz="2910" u="none">
                <a:solidFill>
                  <a:srgbClr val="3E67C8"/>
                </a:solidFill>
                <a:latin typeface="Montserrat Semi-Bold"/>
                <a:ea typeface="Montserrat Semi-Bold"/>
                <a:cs typeface="Montserrat Semi-Bold"/>
                <a:sym typeface="Montserrat Semi-Bold"/>
              </a:rPr>
              <a:t>a</a:t>
            </a:r>
            <a:r>
              <a:rPr lang="en-US" sz="2910" b="true">
                <a:solidFill>
                  <a:srgbClr val="3E67C8"/>
                </a:solidFill>
                <a:latin typeface="Montserrat Semi-Bold"/>
                <a:ea typeface="Montserrat Semi-Bold"/>
                <a:cs typeface="Montserrat Semi-Bold"/>
                <a:sym typeface="Montserrat Semi-Bold"/>
              </a:rPr>
              <a:t>nc</a:t>
            </a:r>
            <a:r>
              <a:rPr lang="en-US" b="true" sz="2910" u="none">
                <a:solidFill>
                  <a:srgbClr val="3E67C8"/>
                </a:solidFill>
                <a:latin typeface="Montserrat Semi-Bold"/>
                <a:ea typeface="Montserrat Semi-Bold"/>
                <a:cs typeface="Montserrat Semi-Bold"/>
                <a:sym typeface="Montserrat Semi-Bold"/>
              </a:rPr>
              <a:t>e </a:t>
            </a:r>
            <a:r>
              <a:rPr lang="en-US" sz="2910" b="true">
                <a:solidFill>
                  <a:srgbClr val="3E67C8"/>
                </a:solidFill>
                <a:latin typeface="Montserrat Semi-Bold"/>
                <a:ea typeface="Montserrat Semi-Bold"/>
                <a:cs typeface="Montserrat Semi-Bold"/>
                <a:sym typeface="Montserrat Semi-Bold"/>
              </a:rPr>
              <a:t>a</a:t>
            </a:r>
            <a:r>
              <a:rPr lang="en-US" b="true" sz="2910" u="none">
                <a:solidFill>
                  <a:srgbClr val="3E67C8"/>
                </a:solidFill>
                <a:latin typeface="Montserrat Semi-Bold"/>
                <a:ea typeface="Montserrat Semi-Bold"/>
                <a:cs typeface="Montserrat Semi-Bold"/>
                <a:sym typeface="Montserrat Semi-Bold"/>
              </a:rPr>
              <a:t>n</a:t>
            </a:r>
            <a:r>
              <a:rPr lang="en-US" sz="2910" b="true">
                <a:solidFill>
                  <a:srgbClr val="3E67C8"/>
                </a:solidFill>
                <a:latin typeface="Montserrat Semi-Bold"/>
                <a:ea typeface="Montserrat Semi-Bold"/>
                <a:cs typeface="Montserrat Semi-Bold"/>
                <a:sym typeface="Montserrat Semi-Bold"/>
              </a:rPr>
              <a:t>d</a:t>
            </a:r>
            <a:r>
              <a:rPr lang="en-US" b="true" sz="2910" u="none">
                <a:solidFill>
                  <a:srgbClr val="3E67C8"/>
                </a:solidFill>
                <a:latin typeface="Montserrat Semi-Bold"/>
                <a:ea typeface="Montserrat Semi-Bold"/>
                <a:cs typeface="Montserrat Semi-Bold"/>
                <a:sym typeface="Montserrat Semi-Bold"/>
              </a:rPr>
              <a:t> </a:t>
            </a:r>
            <a:r>
              <a:rPr lang="en-US" sz="2910" b="true">
                <a:solidFill>
                  <a:srgbClr val="3E67C8"/>
                </a:solidFill>
                <a:latin typeface="Montserrat Semi-Bold"/>
                <a:ea typeface="Montserrat Semi-Bold"/>
                <a:cs typeface="Montserrat Semi-Bold"/>
                <a:sym typeface="Montserrat Semi-Bold"/>
              </a:rPr>
              <a:t>sc</a:t>
            </a:r>
            <a:r>
              <a:rPr lang="en-US" b="true" sz="2910" u="none">
                <a:solidFill>
                  <a:srgbClr val="3E67C8"/>
                </a:solidFill>
                <a:latin typeface="Montserrat Semi-Bold"/>
                <a:ea typeface="Montserrat Semi-Bold"/>
                <a:cs typeface="Montserrat Semi-Bold"/>
                <a:sym typeface="Montserrat Semi-Bold"/>
              </a:rPr>
              <a:t>a</a:t>
            </a:r>
            <a:r>
              <a:rPr lang="en-US" sz="2910" b="true">
                <a:solidFill>
                  <a:srgbClr val="3E67C8"/>
                </a:solidFill>
                <a:latin typeface="Montserrat Semi-Bold"/>
                <a:ea typeface="Montserrat Semi-Bold"/>
                <a:cs typeface="Montserrat Semi-Bold"/>
                <a:sym typeface="Montserrat Semi-Bold"/>
              </a:rPr>
              <a:t>labili</a:t>
            </a:r>
            <a:r>
              <a:rPr lang="en-US" b="true" sz="2910" u="none">
                <a:solidFill>
                  <a:srgbClr val="3E67C8"/>
                </a:solidFill>
                <a:latin typeface="Montserrat Semi-Bold"/>
                <a:ea typeface="Montserrat Semi-Bold"/>
                <a:cs typeface="Montserrat Semi-Bold"/>
                <a:sym typeface="Montserrat Semi-Bold"/>
              </a:rPr>
              <a:t>t</a:t>
            </a:r>
            <a:r>
              <a:rPr lang="en-US" sz="2910" b="true">
                <a:solidFill>
                  <a:srgbClr val="3E67C8"/>
                </a:solidFill>
                <a:latin typeface="Montserrat Semi-Bold"/>
                <a:ea typeface="Montserrat Semi-Bold"/>
                <a:cs typeface="Montserrat Semi-Bold"/>
                <a:sym typeface="Montserrat Semi-Bold"/>
              </a:rPr>
              <a:t>y.</a:t>
            </a:r>
          </a:p>
        </p:txBody>
      </p:sp>
    </p:spTree>
  </p:cSld>
  <p:clrMapOvr>
    <a:masterClrMapping/>
  </p:clrMapOvr>
  <p:transition spd="slow">
    <p:push dir="l"/>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1100865"/>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1243254"/>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AutoShape 9" id="9"/>
          <p:cNvSpPr/>
          <p:nvPr/>
        </p:nvSpPr>
        <p:spPr>
          <a:xfrm>
            <a:off x="-586428" y="1401795"/>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Freeform 10" id="10"/>
          <p:cNvSpPr/>
          <p:nvPr/>
        </p:nvSpPr>
        <p:spPr>
          <a:xfrm flipH="false" flipV="false" rot="0">
            <a:off x="7464090" y="6696000"/>
            <a:ext cx="411858" cy="411858"/>
          </a:xfrm>
          <a:custGeom>
            <a:avLst/>
            <a:gdLst/>
            <a:ahLst/>
            <a:cxnLst/>
            <a:rect r="r" b="b" t="t" l="l"/>
            <a:pathLst>
              <a:path h="411858" w="411858">
                <a:moveTo>
                  <a:pt x="0" y="0"/>
                </a:moveTo>
                <a:lnTo>
                  <a:pt x="411858" y="0"/>
                </a:lnTo>
                <a:lnTo>
                  <a:pt x="411858" y="411858"/>
                </a:lnTo>
                <a:lnTo>
                  <a:pt x="0" y="4118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6199687" y="4197290"/>
            <a:ext cx="3841350"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Ultra-Bold"/>
                <a:ea typeface="Montserrat Ultra-Bold"/>
                <a:cs typeface="Montserrat Ultra-Bold"/>
                <a:sym typeface="Montserrat Ultra-Bold"/>
              </a:rPr>
              <a:t>Thank</a:t>
            </a:r>
          </a:p>
        </p:txBody>
      </p:sp>
      <p:sp>
        <p:nvSpPr>
          <p:cNvPr name="TextBox 12" id="12"/>
          <p:cNvSpPr txBox="true"/>
          <p:nvPr/>
        </p:nvSpPr>
        <p:spPr>
          <a:xfrm rot="0">
            <a:off x="1132346" y="971550"/>
            <a:ext cx="3590902"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3" id="13"/>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28</a:t>
            </a:r>
          </a:p>
        </p:txBody>
      </p:sp>
      <p:sp>
        <p:nvSpPr>
          <p:cNvPr name="TextBox 14" id="14"/>
          <p:cNvSpPr txBox="true"/>
          <p:nvPr/>
        </p:nvSpPr>
        <p:spPr>
          <a:xfrm rot="0">
            <a:off x="10041036" y="4197290"/>
            <a:ext cx="2917713"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Semi-Bold"/>
                <a:ea typeface="Montserrat Semi-Bold"/>
                <a:cs typeface="Montserrat Semi-Bold"/>
                <a:sym typeface="Montserrat Semi-Bold"/>
              </a:rPr>
              <a:t>You.</a:t>
            </a:r>
          </a:p>
        </p:txBody>
      </p:sp>
      <p:sp>
        <p:nvSpPr>
          <p:cNvPr name="TextBox 15" id="15"/>
          <p:cNvSpPr txBox="true"/>
          <p:nvPr/>
        </p:nvSpPr>
        <p:spPr>
          <a:xfrm rot="0">
            <a:off x="9998718" y="3190946"/>
            <a:ext cx="2917713"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Semi-Bold"/>
                <a:ea typeface="Montserrat Semi-Bold"/>
                <a:cs typeface="Montserrat Semi-Bold"/>
                <a:sym typeface="Montserrat Semi-Bold"/>
              </a:rPr>
              <a:t>You.</a:t>
            </a:r>
          </a:p>
        </p:txBody>
      </p:sp>
      <p:sp>
        <p:nvSpPr>
          <p:cNvPr name="TextBox 16" id="16"/>
          <p:cNvSpPr txBox="true"/>
          <p:nvPr/>
        </p:nvSpPr>
        <p:spPr>
          <a:xfrm rot="0">
            <a:off x="6157368" y="3190946"/>
            <a:ext cx="3841350"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Ultra-Bold"/>
                <a:ea typeface="Montserrat Ultra-Bold"/>
                <a:cs typeface="Montserrat Ultra-Bold"/>
                <a:sym typeface="Montserrat Ultra-Bold"/>
              </a:rPr>
              <a:t>Thank</a:t>
            </a:r>
          </a:p>
        </p:txBody>
      </p:sp>
      <p:sp>
        <p:nvSpPr>
          <p:cNvPr name="TextBox 17" id="17"/>
          <p:cNvSpPr txBox="true"/>
          <p:nvPr/>
        </p:nvSpPr>
        <p:spPr>
          <a:xfrm rot="0">
            <a:off x="9998718" y="5308172"/>
            <a:ext cx="2917713"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Semi-Bold"/>
                <a:ea typeface="Montserrat Semi-Bold"/>
                <a:cs typeface="Montserrat Semi-Bold"/>
                <a:sym typeface="Montserrat Semi-Bold"/>
              </a:rPr>
              <a:t>You.</a:t>
            </a:r>
          </a:p>
        </p:txBody>
      </p:sp>
      <p:sp>
        <p:nvSpPr>
          <p:cNvPr name="TextBox 18" id="18"/>
          <p:cNvSpPr txBox="true"/>
          <p:nvPr/>
        </p:nvSpPr>
        <p:spPr>
          <a:xfrm rot="0">
            <a:off x="6157368" y="5308172"/>
            <a:ext cx="3841350" cy="1037211"/>
          </a:xfrm>
          <a:prstGeom prst="rect">
            <a:avLst/>
          </a:prstGeom>
        </p:spPr>
        <p:txBody>
          <a:bodyPr anchor="t" rtlCol="false" tIns="0" lIns="0" bIns="0" rIns="0">
            <a:spAutoFit/>
          </a:bodyPr>
          <a:lstStyle/>
          <a:p>
            <a:pPr algn="l">
              <a:lnSpc>
                <a:spcPts val="7574"/>
              </a:lnSpc>
            </a:pPr>
            <a:r>
              <a:rPr lang="en-US" sz="8510" b="true">
                <a:solidFill>
                  <a:srgbClr val="3E67C8"/>
                </a:solidFill>
                <a:latin typeface="Montserrat Ultra-Bold"/>
                <a:ea typeface="Montserrat Ultra-Bold"/>
                <a:cs typeface="Montserrat Ultra-Bold"/>
                <a:sym typeface="Montserrat Ultra-Bold"/>
              </a:rPr>
              <a:t>Thank</a:t>
            </a:r>
          </a:p>
        </p:txBody>
      </p:sp>
      <p:sp>
        <p:nvSpPr>
          <p:cNvPr name="TextBox 19" id="19"/>
          <p:cNvSpPr txBox="true"/>
          <p:nvPr/>
        </p:nvSpPr>
        <p:spPr>
          <a:xfrm rot="0">
            <a:off x="8056376" y="6727823"/>
            <a:ext cx="3401199" cy="300588"/>
          </a:xfrm>
          <a:prstGeom prst="rect">
            <a:avLst/>
          </a:prstGeom>
        </p:spPr>
        <p:txBody>
          <a:bodyPr anchor="t" rtlCol="false" tIns="0" lIns="0" bIns="0" rIns="0">
            <a:spAutoFit/>
          </a:bodyPr>
          <a:lstStyle/>
          <a:p>
            <a:pPr algn="l">
              <a:lnSpc>
                <a:spcPts val="2332"/>
              </a:lnSpc>
            </a:pPr>
            <a:r>
              <a:rPr lang="en-US" sz="1665" b="true">
                <a:solidFill>
                  <a:srgbClr val="006CCD"/>
                </a:solidFill>
                <a:latin typeface="Poppins Semi-Bold"/>
                <a:ea typeface="Poppins Semi-Bold"/>
                <a:cs typeface="Poppins Semi-Bold"/>
                <a:sym typeface="Poppins Semi-Bold"/>
              </a:rPr>
              <a:t>nctinh2438@apcs.fitus.edu.vn</a:t>
            </a:r>
          </a:p>
        </p:txBody>
      </p:sp>
    </p:spTree>
  </p:cSld>
  <p:clrMapOvr>
    <a:masterClrMapping/>
  </p:clrMapOvr>
  <p:transition spd="slow">
    <p:push dir="l"/>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67864" y="727680"/>
            <a:ext cx="399158" cy="63290"/>
            <a:chOff x="0" y="0"/>
            <a:chExt cx="105128" cy="16669"/>
          </a:xfrm>
        </p:grpSpPr>
        <p:sp>
          <p:nvSpPr>
            <p:cNvPr name="Freeform 4" id="4"/>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5" id="5"/>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grpSp>
        <p:nvGrpSpPr>
          <p:cNvPr name="Group 6" id="6"/>
          <p:cNvGrpSpPr/>
          <p:nvPr/>
        </p:nvGrpSpPr>
        <p:grpSpPr>
          <a:xfrm rot="0">
            <a:off x="17367864" y="865909"/>
            <a:ext cx="399158" cy="63290"/>
            <a:chOff x="0" y="0"/>
            <a:chExt cx="105128" cy="16669"/>
          </a:xfrm>
        </p:grpSpPr>
        <p:sp>
          <p:nvSpPr>
            <p:cNvPr name="Freeform 7" id="7"/>
            <p:cNvSpPr/>
            <p:nvPr/>
          </p:nvSpPr>
          <p:spPr>
            <a:xfrm flipH="false" flipV="false" rot="0">
              <a:off x="0" y="0"/>
              <a:ext cx="105128" cy="16669"/>
            </a:xfrm>
            <a:custGeom>
              <a:avLst/>
              <a:gdLst/>
              <a:ahLst/>
              <a:cxnLst/>
              <a:rect r="r" b="b" t="t" l="l"/>
              <a:pathLst>
                <a:path h="16669" w="105128">
                  <a:moveTo>
                    <a:pt x="0" y="0"/>
                  </a:moveTo>
                  <a:lnTo>
                    <a:pt x="105128" y="0"/>
                  </a:lnTo>
                  <a:lnTo>
                    <a:pt x="105128" y="16669"/>
                  </a:lnTo>
                  <a:lnTo>
                    <a:pt x="0" y="16669"/>
                  </a:lnTo>
                  <a:close/>
                </a:path>
              </a:pathLst>
            </a:custGeom>
            <a:gradFill rotWithShape="true">
              <a:gsLst>
                <a:gs pos="0">
                  <a:srgbClr val="006CCD">
                    <a:alpha val="100000"/>
                  </a:srgbClr>
                </a:gs>
                <a:gs pos="100000">
                  <a:srgbClr val="F5AEFF">
                    <a:alpha val="0"/>
                  </a:srgbClr>
                </a:gs>
              </a:gsLst>
              <a:lin ang="0"/>
            </a:gradFill>
          </p:spPr>
        </p:sp>
        <p:sp>
          <p:nvSpPr>
            <p:cNvPr name="TextBox 8" id="8"/>
            <p:cNvSpPr txBox="true"/>
            <p:nvPr/>
          </p:nvSpPr>
          <p:spPr>
            <a:xfrm>
              <a:off x="0" y="-38100"/>
              <a:ext cx="105128" cy="54769"/>
            </a:xfrm>
            <a:prstGeom prst="rect">
              <a:avLst/>
            </a:prstGeom>
          </p:spPr>
          <p:txBody>
            <a:bodyPr anchor="ctr" rtlCol="false" tIns="50800" lIns="50800" bIns="50800" rIns="50800"/>
            <a:lstStyle/>
            <a:p>
              <a:pPr algn="ctr">
                <a:lnSpc>
                  <a:spcPts val="2199"/>
                </a:lnSpc>
              </a:pPr>
            </a:p>
          </p:txBody>
        </p:sp>
      </p:grpSp>
      <p:sp>
        <p:nvSpPr>
          <p:cNvPr name="Freeform 9" id="9"/>
          <p:cNvSpPr/>
          <p:nvPr/>
        </p:nvSpPr>
        <p:spPr>
          <a:xfrm flipH="true" flipV="true" rot="0">
            <a:off x="12971442" y="6900577"/>
            <a:ext cx="10066789" cy="8229600"/>
          </a:xfrm>
          <a:custGeom>
            <a:avLst/>
            <a:gdLst/>
            <a:ahLst/>
            <a:cxnLst/>
            <a:rect r="r" b="b" t="t" l="l"/>
            <a:pathLst>
              <a:path h="8229600" w="10066789">
                <a:moveTo>
                  <a:pt x="10066789" y="8229600"/>
                </a:moveTo>
                <a:lnTo>
                  <a:pt x="0" y="8229600"/>
                </a:lnTo>
                <a:lnTo>
                  <a:pt x="0" y="0"/>
                </a:lnTo>
                <a:lnTo>
                  <a:pt x="10066789" y="0"/>
                </a:lnTo>
                <a:lnTo>
                  <a:pt x="10066789" y="8229600"/>
                </a:lnTo>
                <a:close/>
              </a:path>
            </a:pathLst>
          </a:custGeom>
          <a:blipFill>
            <a:blip r:embed="rId3">
              <a:alphaModFix amt="31000"/>
            </a:blip>
            <a:stretch>
              <a:fillRect l="0" t="0" r="0" b="0"/>
            </a:stretch>
          </a:blipFill>
        </p:spPr>
      </p:sp>
      <p:sp>
        <p:nvSpPr>
          <p:cNvPr name="AutoShape 10" id="10"/>
          <p:cNvSpPr/>
          <p:nvPr/>
        </p:nvSpPr>
        <p:spPr>
          <a:xfrm>
            <a:off x="-467745" y="1028700"/>
            <a:ext cx="19996945" cy="0"/>
          </a:xfrm>
          <a:prstGeom prst="line">
            <a:avLst/>
          </a:prstGeom>
          <a:ln cap="flat" w="38100">
            <a:gradFill>
              <a:gsLst>
                <a:gs pos="0">
                  <a:srgbClr val="006CCD">
                    <a:alpha val="0"/>
                  </a:srgbClr>
                </a:gs>
                <a:gs pos="50000">
                  <a:srgbClr val="3E67C8">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767764" y="1710277"/>
            <a:ext cx="7687036" cy="383588"/>
          </a:xfrm>
          <a:prstGeom prst="rect">
            <a:avLst/>
          </a:prstGeom>
        </p:spPr>
        <p:txBody>
          <a:bodyPr anchor="t" rtlCol="false" tIns="0" lIns="0" bIns="0" rIns="0">
            <a:spAutoFit/>
          </a:bodyPr>
          <a:lstStyle/>
          <a:p>
            <a:pPr algn="l">
              <a:lnSpc>
                <a:spcPts val="2857"/>
              </a:lnSpc>
            </a:pPr>
            <a:r>
              <a:rPr lang="en-US" sz="3210" b="true">
                <a:solidFill>
                  <a:srgbClr val="3E67C8"/>
                </a:solidFill>
                <a:latin typeface="Montserrat Bold"/>
                <a:ea typeface="Montserrat Bold"/>
                <a:cs typeface="Montserrat Bold"/>
                <a:sym typeface="Montserrat Bold"/>
              </a:rPr>
              <a:t>References:</a:t>
            </a:r>
          </a:p>
        </p:txBody>
      </p:sp>
      <p:grpSp>
        <p:nvGrpSpPr>
          <p:cNvPr name="Group 12" id="12"/>
          <p:cNvGrpSpPr/>
          <p:nvPr/>
        </p:nvGrpSpPr>
        <p:grpSpPr>
          <a:xfrm rot="0">
            <a:off x="957214" y="1190625"/>
            <a:ext cx="1318118" cy="131811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6CCD">
                    <a:alpha val="100000"/>
                  </a:srgbClr>
                </a:gs>
                <a:gs pos="100000">
                  <a:srgbClr val="F5AE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199"/>
                </a:lnSpc>
              </a:pPr>
            </a:p>
          </p:txBody>
        </p:sp>
      </p:grpSp>
      <p:sp>
        <p:nvSpPr>
          <p:cNvPr name="TextBox 15" id="15"/>
          <p:cNvSpPr txBox="true"/>
          <p:nvPr/>
        </p:nvSpPr>
        <p:spPr>
          <a:xfrm rot="0">
            <a:off x="1028700" y="532301"/>
            <a:ext cx="3082738"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Quad Tree - CS163</a:t>
            </a:r>
          </a:p>
        </p:txBody>
      </p:sp>
      <p:sp>
        <p:nvSpPr>
          <p:cNvPr name="TextBox 16" id="16"/>
          <p:cNvSpPr txBox="true"/>
          <p:nvPr/>
        </p:nvSpPr>
        <p:spPr>
          <a:xfrm rot="0">
            <a:off x="957214" y="9358745"/>
            <a:ext cx="1621100" cy="333608"/>
          </a:xfrm>
          <a:prstGeom prst="rect">
            <a:avLst/>
          </a:prstGeom>
        </p:spPr>
        <p:txBody>
          <a:bodyPr anchor="t" rtlCol="false" tIns="0" lIns="0" bIns="0" rIns="0">
            <a:spAutoFit/>
          </a:bodyPr>
          <a:lstStyle/>
          <a:p>
            <a:pPr algn="l">
              <a:lnSpc>
                <a:spcPts val="2612"/>
              </a:lnSpc>
            </a:pPr>
            <a:r>
              <a:rPr lang="en-US" sz="1865" b="true">
                <a:solidFill>
                  <a:srgbClr val="006CCD"/>
                </a:solidFill>
                <a:latin typeface="Poppins Semi-Bold"/>
                <a:ea typeface="Poppins Semi-Bold"/>
                <a:cs typeface="Poppins Semi-Bold"/>
                <a:sym typeface="Poppins Semi-Bold"/>
              </a:rPr>
              <a:t>Page 29</a:t>
            </a:r>
          </a:p>
        </p:txBody>
      </p:sp>
      <p:sp>
        <p:nvSpPr>
          <p:cNvPr name="TextBox 17" id="17"/>
          <p:cNvSpPr txBox="true"/>
          <p:nvPr/>
        </p:nvSpPr>
        <p:spPr>
          <a:xfrm rot="0">
            <a:off x="1767764" y="2160541"/>
            <a:ext cx="15999258" cy="6685813"/>
          </a:xfrm>
          <a:prstGeom prst="rect">
            <a:avLst/>
          </a:prstGeom>
        </p:spPr>
        <p:txBody>
          <a:bodyPr anchor="t" rtlCol="false" tIns="0" lIns="0" bIns="0" rIns="0">
            <a:spAutoFit/>
          </a:bodyPr>
          <a:lstStyle/>
          <a:p>
            <a:pPr algn="just">
              <a:lnSpc>
                <a:spcPts val="4408"/>
              </a:lnSpc>
            </a:pPr>
            <a:r>
              <a:rPr lang="en-US" sz="2999" b="true">
                <a:solidFill>
                  <a:srgbClr val="3E67C8"/>
                </a:solidFill>
                <a:latin typeface="Montserrat Semi-Bold"/>
                <a:ea typeface="Montserrat Semi-Bold"/>
                <a:cs typeface="Montserrat Semi-Bold"/>
                <a:sym typeface="Montserrat Semi-Bold"/>
              </a:rPr>
              <a:t>[1] Samet, H. (1984). The Quadtree and Related Hierarchical Data Structures. ACM Computing Surveys (CSUR), 16(2), 187-260.</a:t>
            </a:r>
          </a:p>
          <a:p>
            <a:pPr algn="just">
              <a:lnSpc>
                <a:spcPts val="4408"/>
              </a:lnSpc>
            </a:pPr>
            <a:r>
              <a:rPr lang="en-US" sz="2999" b="true">
                <a:solidFill>
                  <a:srgbClr val="3E67C8"/>
                </a:solidFill>
                <a:latin typeface="Montserrat Semi-Bold"/>
                <a:ea typeface="Montserrat Semi-Bold"/>
                <a:cs typeface="Montserrat Semi-Bold"/>
                <a:sym typeface="Montserrat Semi-Bold"/>
              </a:rPr>
              <a:t>[2] Finkel, R. A., &amp; Bentley, J. L. (1974). Quad Trees: A Data Structure for Retrieval on Composite Keys. Acta Informatica, 4, 1-9.</a:t>
            </a:r>
          </a:p>
          <a:p>
            <a:pPr algn="just">
              <a:lnSpc>
                <a:spcPts val="4408"/>
              </a:lnSpc>
            </a:pPr>
            <a:r>
              <a:rPr lang="en-US" sz="2999" b="true">
                <a:solidFill>
                  <a:srgbClr val="3E67C8"/>
                </a:solidFill>
                <a:latin typeface="Montserrat Semi-Bold"/>
                <a:ea typeface="Montserrat Semi-Bold"/>
                <a:cs typeface="Montserrat Semi-Bold"/>
                <a:sym typeface="Montserrat Semi-Bold"/>
              </a:rPr>
              <a:t>[3] De Berg, M., Van Kreveld, M., Overmars, M., &amp; Schwarzkopf, O. (2008). Computational Geometry: Algorithms and Applications. Springer.</a:t>
            </a:r>
          </a:p>
          <a:p>
            <a:pPr algn="just">
              <a:lnSpc>
                <a:spcPts val="4408"/>
              </a:lnSpc>
            </a:pPr>
            <a:r>
              <a:rPr lang="en-US" sz="2999" b="true">
                <a:solidFill>
                  <a:srgbClr val="3E67C8"/>
                </a:solidFill>
                <a:latin typeface="Montserrat Semi-Bold"/>
                <a:ea typeface="Montserrat Semi-Bold"/>
                <a:cs typeface="Montserrat Semi-Bold"/>
                <a:sym typeface="Montserrat Semi-Bold"/>
              </a:rPr>
              <a:t>[4] Beckmann, N., Kriegel, H. P., Schneider, R., &amp; Seeger, B. (1990). The R*-Tree: An Efficient and Robust Access Method for Points and Rectangles. ACM SIGMOD Record, 19(2), 322-331.</a:t>
            </a:r>
          </a:p>
          <a:p>
            <a:pPr algn="just">
              <a:lnSpc>
                <a:spcPts val="4408"/>
              </a:lnSpc>
            </a:pPr>
            <a:r>
              <a:rPr lang="en-US" sz="2999" b="true">
                <a:solidFill>
                  <a:srgbClr val="3E67C8"/>
                </a:solidFill>
                <a:latin typeface="Montserrat Semi-Bold"/>
                <a:ea typeface="Montserrat Semi-Bold"/>
                <a:cs typeface="Montserrat Semi-Bold"/>
                <a:sym typeface="Montserrat Semi-Bold"/>
              </a:rPr>
              <a:t>[5] Agarwal, P. K., &amp; Erickson, J. (1999). Geometric Range Searching and Its Relatives. Contemporary M</a:t>
            </a:r>
            <a:r>
              <a:rPr lang="en-US" b="true" sz="2999" u="none">
                <a:solidFill>
                  <a:srgbClr val="3E67C8"/>
                </a:solidFill>
                <a:latin typeface="Montserrat Semi-Bold"/>
                <a:ea typeface="Montserrat Semi-Bold"/>
                <a:cs typeface="Montserrat Semi-Bold"/>
                <a:sym typeface="Montserrat Semi-Bold"/>
              </a:rPr>
              <a:t>ath</a:t>
            </a:r>
            <a:r>
              <a:rPr lang="en-US" sz="2999" b="true">
                <a:solidFill>
                  <a:srgbClr val="3E67C8"/>
                </a:solidFill>
                <a:latin typeface="Montserrat Semi-Bold"/>
                <a:ea typeface="Montserrat Semi-Bold"/>
                <a:cs typeface="Montserrat Semi-Bold"/>
                <a:sym typeface="Montserrat Semi-Bold"/>
              </a:rPr>
              <a:t>em</a:t>
            </a:r>
            <a:r>
              <a:rPr lang="en-US" b="true" sz="2999" u="none">
                <a:solidFill>
                  <a:srgbClr val="3E67C8"/>
                </a:solidFill>
                <a:latin typeface="Montserrat Semi-Bold"/>
                <a:ea typeface="Montserrat Semi-Bold"/>
                <a:cs typeface="Montserrat Semi-Bold"/>
                <a:sym typeface="Montserrat Semi-Bold"/>
              </a:rPr>
              <a:t>ati</a:t>
            </a:r>
            <a:r>
              <a:rPr lang="en-US" sz="2999" b="true">
                <a:solidFill>
                  <a:srgbClr val="3E67C8"/>
                </a:solidFill>
                <a:latin typeface="Montserrat Semi-Bold"/>
                <a:ea typeface="Montserrat Semi-Bold"/>
                <a:cs typeface="Montserrat Semi-Bold"/>
                <a:sym typeface="Montserrat Semi-Bold"/>
              </a:rPr>
              <a:t>cs,</a:t>
            </a:r>
            <a:r>
              <a:rPr lang="en-US" b="true" sz="2999" u="none">
                <a:solidFill>
                  <a:srgbClr val="3E67C8"/>
                </a:solidFill>
                <a:latin typeface="Montserrat Semi-Bold"/>
                <a:ea typeface="Montserrat Semi-Bold"/>
                <a:cs typeface="Montserrat Semi-Bold"/>
                <a:sym typeface="Montserrat Semi-Bold"/>
              </a:rPr>
              <a:t> 223, 1-56</a:t>
            </a:r>
            <a:r>
              <a:rPr lang="en-US" sz="2999" b="true">
                <a:solidFill>
                  <a:srgbClr val="3E67C8"/>
                </a:solidFill>
                <a:latin typeface="Montserrat Semi-Bold"/>
                <a:ea typeface="Montserrat Semi-Bold"/>
                <a:cs typeface="Montserrat Semi-Bold"/>
                <a:sym typeface="Montserrat Semi-Bold"/>
              </a:rPr>
              <a:t>.</a:t>
            </a:r>
          </a:p>
          <a:p>
            <a:pPr algn="just">
              <a:lnSpc>
                <a:spcPts val="4408"/>
              </a:lnSpc>
            </a:pP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DAGi7cHZu3E</dc:identifier>
  <dcterms:modified xsi:type="dcterms:W3CDTF">2011-08-01T06:04:30Z</dcterms:modified>
  <cp:revision>1</cp:revision>
  <dc:title>QuadTree Gr51 CS163</dc:title>
</cp:coreProperties>
</file>